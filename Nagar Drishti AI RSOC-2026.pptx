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Aadil" panose="020B0604020202020204" charset="-78"/>
      <p:regular r:id="rId8"/>
    </p:embeddedFont>
    <p:embeddedFont>
      <p:font typeface="Canva Sans Bold" panose="020B0604020202020204" charset="0"/>
      <p:regular r:id="rId9"/>
    </p:embeddedFont>
    <p:embeddedFont>
      <p:font typeface="DM Sans" pitchFamily="2" charset="0"/>
      <p:regular r:id="rId10"/>
    </p:embeddedFont>
    <p:embeddedFont>
      <p:font typeface="DM Sans Bold" charset="0"/>
      <p:regular r:id="rId11"/>
    </p:embeddedFont>
    <p:embeddedFont>
      <p:font typeface="Goudy Bold" panose="020B0604020202020204" charset="0"/>
      <p:regular r:id="rId12"/>
    </p:embeddedFont>
    <p:embeddedFont>
      <p:font typeface="Neue Montreal Bold" panose="020B0604020202020204" charset="0"/>
      <p:regular r:id="rId13"/>
    </p:embeddedFont>
    <p:embeddedFont>
      <p:font typeface="Poppins" panose="00000500000000000000" pitchFamily="2" charset="0"/>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1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5.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0282238"/>
            <a:ext cx="18288000" cy="0"/>
          </a:xfrm>
          <a:prstGeom prst="line">
            <a:avLst/>
          </a:prstGeom>
          <a:ln w="9525" cap="flat">
            <a:solidFill>
              <a:srgbClr val="191919"/>
            </a:solidFill>
            <a:prstDash val="solid"/>
            <a:headEnd type="none" w="sm" len="sm"/>
            <a:tailEnd type="none" w="sm" len="sm"/>
          </a:ln>
        </p:spPr>
      </p:sp>
      <p:sp>
        <p:nvSpPr>
          <p:cNvPr id="3" name="Freeform 3"/>
          <p:cNvSpPr/>
          <p:nvPr/>
        </p:nvSpPr>
        <p:spPr>
          <a:xfrm>
            <a:off x="607195" y="464929"/>
            <a:ext cx="3094349" cy="1450639"/>
          </a:xfrm>
          <a:custGeom>
            <a:avLst/>
            <a:gdLst/>
            <a:ahLst/>
            <a:cxnLst/>
            <a:rect l="l" t="t" r="r" b="b"/>
            <a:pathLst>
              <a:path w="3094349" h="1450639">
                <a:moveTo>
                  <a:pt x="0" y="0"/>
                </a:moveTo>
                <a:lnTo>
                  <a:pt x="3094349" y="0"/>
                </a:lnTo>
                <a:lnTo>
                  <a:pt x="3094349" y="1450640"/>
                </a:lnTo>
                <a:lnTo>
                  <a:pt x="0" y="1450640"/>
                </a:lnTo>
                <a:lnTo>
                  <a:pt x="0" y="0"/>
                </a:lnTo>
                <a:close/>
              </a:path>
            </a:pathLst>
          </a:custGeom>
          <a:blipFill>
            <a:blip r:embed="rId2"/>
            <a:stretch>
              <a:fillRect/>
            </a:stretch>
          </a:blipFill>
        </p:spPr>
        <p:txBody>
          <a:bodyPr/>
          <a:lstStyle/>
          <a:p>
            <a:endParaRPr lang="en-US" dirty="0"/>
          </a:p>
        </p:txBody>
      </p:sp>
      <p:sp>
        <p:nvSpPr>
          <p:cNvPr id="4" name="TextBox 4"/>
          <p:cNvSpPr txBox="1"/>
          <p:nvPr/>
        </p:nvSpPr>
        <p:spPr>
          <a:xfrm>
            <a:off x="2916424" y="649553"/>
            <a:ext cx="11377470" cy="883768"/>
          </a:xfrm>
          <a:prstGeom prst="rect">
            <a:avLst/>
          </a:prstGeom>
        </p:spPr>
        <p:txBody>
          <a:bodyPr lIns="0" tIns="0" rIns="0" bIns="0" rtlCol="0" anchor="t">
            <a:spAutoFit/>
          </a:bodyPr>
          <a:lstStyle/>
          <a:p>
            <a:pPr marL="0" lvl="0" indent="0" algn="ctr">
              <a:lnSpc>
                <a:spcPts val="6481"/>
              </a:lnSpc>
            </a:pPr>
            <a:r>
              <a:rPr lang="en-US" sz="7201" b="1" spc="-727" dirty="0">
                <a:solidFill>
                  <a:srgbClr val="191919">
                    <a:alpha val="92941"/>
                  </a:srgbClr>
                </a:solidFill>
                <a:latin typeface="Poppins"/>
                <a:ea typeface="Poppins"/>
                <a:cs typeface="Poppins"/>
                <a:sym typeface="Poppins"/>
              </a:rPr>
              <a:t>RSOC-2026</a:t>
            </a:r>
          </a:p>
        </p:txBody>
      </p:sp>
      <p:sp>
        <p:nvSpPr>
          <p:cNvPr id="5" name="Freeform 5"/>
          <p:cNvSpPr/>
          <p:nvPr/>
        </p:nvSpPr>
        <p:spPr>
          <a:xfrm>
            <a:off x="131324" y="9258300"/>
            <a:ext cx="2571612" cy="873378"/>
          </a:xfrm>
          <a:custGeom>
            <a:avLst/>
            <a:gdLst/>
            <a:ahLst/>
            <a:cxnLst/>
            <a:rect l="l" t="t" r="r" b="b"/>
            <a:pathLst>
              <a:path w="2571612" h="873378">
                <a:moveTo>
                  <a:pt x="0" y="0"/>
                </a:moveTo>
                <a:lnTo>
                  <a:pt x="2571612" y="0"/>
                </a:lnTo>
                <a:lnTo>
                  <a:pt x="2571612" y="873378"/>
                </a:lnTo>
                <a:lnTo>
                  <a:pt x="0" y="873378"/>
                </a:lnTo>
                <a:lnTo>
                  <a:pt x="0" y="0"/>
                </a:lnTo>
                <a:close/>
              </a:path>
            </a:pathLst>
          </a:custGeom>
          <a:blipFill>
            <a:blip r:embed="rId3"/>
            <a:stretch>
              <a:fillRect/>
            </a:stretch>
          </a:blipFill>
        </p:spPr>
      </p:sp>
      <p:sp>
        <p:nvSpPr>
          <p:cNvPr id="6" name="AutoShape 6"/>
          <p:cNvSpPr/>
          <p:nvPr/>
        </p:nvSpPr>
        <p:spPr>
          <a:xfrm>
            <a:off x="2916424" y="9632601"/>
            <a:ext cx="13606988" cy="62388"/>
          </a:xfrm>
          <a:prstGeom prst="line">
            <a:avLst/>
          </a:prstGeom>
          <a:ln w="28575" cap="flat">
            <a:solidFill>
              <a:srgbClr val="AA1313"/>
            </a:solidFill>
            <a:prstDash val="solid"/>
            <a:headEnd type="none" w="sm" len="sm"/>
            <a:tailEnd type="none" w="sm" len="sm"/>
          </a:ln>
        </p:spPr>
      </p:sp>
      <p:grpSp>
        <p:nvGrpSpPr>
          <p:cNvPr id="7" name="Group 7"/>
          <p:cNvGrpSpPr/>
          <p:nvPr/>
        </p:nvGrpSpPr>
        <p:grpSpPr>
          <a:xfrm rot="-10800000">
            <a:off x="16856440" y="0"/>
            <a:ext cx="1431560" cy="10287000"/>
            <a:chOff x="0" y="0"/>
            <a:chExt cx="377036" cy="2709333"/>
          </a:xfrm>
        </p:grpSpPr>
        <p:sp>
          <p:nvSpPr>
            <p:cNvPr id="8" name="Freeform 8"/>
            <p:cNvSpPr/>
            <p:nvPr/>
          </p:nvSpPr>
          <p:spPr>
            <a:xfrm>
              <a:off x="0" y="0"/>
              <a:ext cx="377036" cy="2709333"/>
            </a:xfrm>
            <a:custGeom>
              <a:avLst/>
              <a:gdLst/>
              <a:ahLst/>
              <a:cxnLst/>
              <a:rect l="l" t="t" r="r" b="b"/>
              <a:pathLst>
                <a:path w="377036" h="2709333">
                  <a:moveTo>
                    <a:pt x="0" y="0"/>
                  </a:moveTo>
                  <a:lnTo>
                    <a:pt x="377036" y="0"/>
                  </a:lnTo>
                  <a:lnTo>
                    <a:pt x="377036" y="2709333"/>
                  </a:lnTo>
                  <a:lnTo>
                    <a:pt x="0" y="2709333"/>
                  </a:lnTo>
                  <a:close/>
                </a:path>
              </a:pathLst>
            </a:custGeom>
            <a:gradFill rotWithShape="1">
              <a:gsLst>
                <a:gs pos="0">
                  <a:srgbClr val="FF3B4B">
                    <a:alpha val="100000"/>
                  </a:srgbClr>
                </a:gs>
                <a:gs pos="100000">
                  <a:srgbClr val="98C4EC">
                    <a:alpha val="100000"/>
                  </a:srgbClr>
                </a:gs>
              </a:gsLst>
              <a:lin ang="5400000"/>
            </a:gradFill>
          </p:spPr>
        </p:sp>
        <p:sp>
          <p:nvSpPr>
            <p:cNvPr id="9" name="TextBox 9"/>
            <p:cNvSpPr txBox="1"/>
            <p:nvPr/>
          </p:nvSpPr>
          <p:spPr>
            <a:xfrm>
              <a:off x="0" y="-38100"/>
              <a:ext cx="377036" cy="2747433"/>
            </a:xfrm>
            <a:prstGeom prst="rect">
              <a:avLst/>
            </a:prstGeom>
          </p:spPr>
          <p:txBody>
            <a:bodyPr lIns="50800" tIns="50800" rIns="50800" bIns="50800" rtlCol="0" anchor="ctr"/>
            <a:lstStyle/>
            <a:p>
              <a:pPr algn="ctr">
                <a:lnSpc>
                  <a:spcPts val="3359"/>
                </a:lnSpc>
              </a:pPr>
              <a:endParaRPr/>
            </a:p>
          </p:txBody>
        </p:sp>
      </p:grpSp>
      <p:sp>
        <p:nvSpPr>
          <p:cNvPr id="10" name="Freeform 10"/>
          <p:cNvSpPr/>
          <p:nvPr/>
        </p:nvSpPr>
        <p:spPr>
          <a:xfrm>
            <a:off x="13796967" y="-701436"/>
            <a:ext cx="3149217" cy="3149217"/>
          </a:xfrm>
          <a:custGeom>
            <a:avLst/>
            <a:gdLst/>
            <a:ahLst/>
            <a:cxnLst/>
            <a:rect l="l" t="t" r="r" b="b"/>
            <a:pathLst>
              <a:path w="3149217" h="3149217">
                <a:moveTo>
                  <a:pt x="0" y="0"/>
                </a:moveTo>
                <a:lnTo>
                  <a:pt x="3149217" y="0"/>
                </a:lnTo>
                <a:lnTo>
                  <a:pt x="3149217" y="3149216"/>
                </a:lnTo>
                <a:lnTo>
                  <a:pt x="0" y="3149216"/>
                </a:lnTo>
                <a:lnTo>
                  <a:pt x="0" y="0"/>
                </a:lnTo>
                <a:close/>
              </a:path>
            </a:pathLst>
          </a:custGeom>
          <a:blipFill>
            <a:blip r:embed="rId4"/>
            <a:stretch>
              <a:fillRect/>
            </a:stretch>
          </a:blipFill>
        </p:spPr>
      </p:sp>
      <p:grpSp>
        <p:nvGrpSpPr>
          <p:cNvPr id="11" name="Group 11"/>
          <p:cNvGrpSpPr/>
          <p:nvPr/>
        </p:nvGrpSpPr>
        <p:grpSpPr>
          <a:xfrm>
            <a:off x="7004379" y="1876916"/>
            <a:ext cx="2796883" cy="1141730"/>
            <a:chOff x="0" y="0"/>
            <a:chExt cx="736628" cy="300703"/>
          </a:xfrm>
        </p:grpSpPr>
        <p:sp>
          <p:nvSpPr>
            <p:cNvPr id="12" name="Freeform 12"/>
            <p:cNvSpPr/>
            <p:nvPr/>
          </p:nvSpPr>
          <p:spPr>
            <a:xfrm>
              <a:off x="0" y="0"/>
              <a:ext cx="736628" cy="300703"/>
            </a:xfrm>
            <a:custGeom>
              <a:avLst/>
              <a:gdLst/>
              <a:ahLst/>
              <a:cxnLst/>
              <a:rect l="l" t="t" r="r" b="b"/>
              <a:pathLst>
                <a:path w="736628" h="300703">
                  <a:moveTo>
                    <a:pt x="150351" y="0"/>
                  </a:moveTo>
                  <a:lnTo>
                    <a:pt x="586276" y="0"/>
                  </a:lnTo>
                  <a:cubicBezTo>
                    <a:pt x="626152" y="0"/>
                    <a:pt x="664395" y="15841"/>
                    <a:pt x="692591" y="44037"/>
                  </a:cubicBezTo>
                  <a:cubicBezTo>
                    <a:pt x="720787" y="72233"/>
                    <a:pt x="736628" y="110476"/>
                    <a:pt x="736628" y="150351"/>
                  </a:cubicBezTo>
                  <a:lnTo>
                    <a:pt x="736628" y="150351"/>
                  </a:lnTo>
                  <a:cubicBezTo>
                    <a:pt x="736628" y="190227"/>
                    <a:pt x="720787" y="228469"/>
                    <a:pt x="692591" y="256666"/>
                  </a:cubicBezTo>
                  <a:cubicBezTo>
                    <a:pt x="664395" y="284862"/>
                    <a:pt x="626152" y="300703"/>
                    <a:pt x="586276" y="300703"/>
                  </a:cubicBezTo>
                  <a:lnTo>
                    <a:pt x="150351" y="300703"/>
                  </a:lnTo>
                  <a:cubicBezTo>
                    <a:pt x="110476" y="300703"/>
                    <a:pt x="72233" y="284862"/>
                    <a:pt x="44037" y="256666"/>
                  </a:cubicBezTo>
                  <a:cubicBezTo>
                    <a:pt x="15841" y="228469"/>
                    <a:pt x="0" y="190227"/>
                    <a:pt x="0" y="150351"/>
                  </a:cubicBezTo>
                  <a:lnTo>
                    <a:pt x="0" y="150351"/>
                  </a:lnTo>
                  <a:cubicBezTo>
                    <a:pt x="0" y="110476"/>
                    <a:pt x="15841" y="72233"/>
                    <a:pt x="44037" y="44037"/>
                  </a:cubicBezTo>
                  <a:cubicBezTo>
                    <a:pt x="72233" y="15841"/>
                    <a:pt x="110476" y="0"/>
                    <a:pt x="150351" y="0"/>
                  </a:cubicBezTo>
                  <a:close/>
                </a:path>
              </a:pathLst>
            </a:custGeom>
            <a:solidFill>
              <a:srgbClr val="98C4EC"/>
            </a:solidFill>
          </p:spPr>
          <p:txBody>
            <a:bodyPr/>
            <a:lstStyle/>
            <a:p>
              <a:endParaRPr lang="en-IN" dirty="0"/>
            </a:p>
          </p:txBody>
        </p:sp>
        <p:sp>
          <p:nvSpPr>
            <p:cNvPr id="13" name="TextBox 13"/>
            <p:cNvSpPr txBox="1"/>
            <p:nvPr/>
          </p:nvSpPr>
          <p:spPr>
            <a:xfrm>
              <a:off x="0" y="-57150"/>
              <a:ext cx="736628" cy="357853"/>
            </a:xfrm>
            <a:prstGeom prst="rect">
              <a:avLst/>
            </a:prstGeom>
          </p:spPr>
          <p:txBody>
            <a:bodyPr lIns="50800" tIns="50800" rIns="50800" bIns="50800" rtlCol="0" anchor="ctr"/>
            <a:lstStyle/>
            <a:p>
              <a:pPr algn="ctr">
                <a:lnSpc>
                  <a:spcPts val="4199"/>
                </a:lnSpc>
              </a:pPr>
              <a:r>
                <a:rPr lang="en-US" sz="2999" b="1" dirty="0">
                  <a:solidFill>
                    <a:srgbClr val="020202"/>
                  </a:solidFill>
                  <a:latin typeface="Neue Montreal Bold"/>
                  <a:ea typeface="Neue Montreal Bold"/>
                  <a:cs typeface="Neue Montreal Bold"/>
                  <a:sym typeface="Neue Montreal Bold"/>
                </a:rPr>
                <a:t>Group 18</a:t>
              </a:r>
            </a:p>
          </p:txBody>
        </p:sp>
      </p:grpSp>
      <p:sp>
        <p:nvSpPr>
          <p:cNvPr id="14" name="TextBox 14"/>
          <p:cNvSpPr txBox="1"/>
          <p:nvPr/>
        </p:nvSpPr>
        <p:spPr>
          <a:xfrm>
            <a:off x="0" y="4039237"/>
            <a:ext cx="15468600" cy="5589735"/>
          </a:xfrm>
          <a:prstGeom prst="rect">
            <a:avLst/>
          </a:prstGeom>
        </p:spPr>
        <p:txBody>
          <a:bodyPr wrap="square" lIns="0" tIns="0" rIns="0" bIns="0" rtlCol="0" anchor="t">
            <a:spAutoFit/>
          </a:bodyPr>
          <a:lstStyle/>
          <a:p>
            <a:pPr marL="906785" lvl="1" indent="-453392" algn="l">
              <a:lnSpc>
                <a:spcPts val="5880"/>
              </a:lnSpc>
              <a:buFont typeface="Arial"/>
              <a:buChar char="•"/>
            </a:pPr>
            <a:r>
              <a:rPr lang="en-US" sz="3200" dirty="0">
                <a:solidFill>
                  <a:srgbClr val="191919"/>
                </a:solidFill>
                <a:latin typeface="Aadil"/>
                <a:ea typeface="Aadil"/>
                <a:cs typeface="Aadil"/>
                <a:sym typeface="Aadil"/>
              </a:rPr>
              <a:t>Domain :–Data  Science</a:t>
            </a:r>
          </a:p>
          <a:p>
            <a:pPr marL="906785" lvl="1" indent="-453392">
              <a:lnSpc>
                <a:spcPts val="5880"/>
              </a:lnSpc>
              <a:buFont typeface="Arial"/>
              <a:buChar char="•"/>
            </a:pPr>
            <a:r>
              <a:rPr lang="en-US" sz="3200" dirty="0">
                <a:solidFill>
                  <a:srgbClr val="191919"/>
                </a:solidFill>
                <a:latin typeface="Aadil"/>
                <a:ea typeface="Aadil"/>
                <a:cs typeface="Aadil"/>
                <a:sym typeface="Aadil"/>
              </a:rPr>
              <a:t>Problem Statement Title:-AI-Powered Urban Insights Platform</a:t>
            </a:r>
          </a:p>
          <a:p>
            <a:pPr marL="906785" lvl="1" indent="-453392" algn="l">
              <a:lnSpc>
                <a:spcPts val="5880"/>
              </a:lnSpc>
              <a:buFont typeface="Arial"/>
              <a:buChar char="•"/>
            </a:pPr>
            <a:r>
              <a:rPr lang="en-US" sz="3200" dirty="0">
                <a:solidFill>
                  <a:srgbClr val="191919"/>
                </a:solidFill>
                <a:latin typeface="Aadil"/>
                <a:ea typeface="Aadil"/>
                <a:cs typeface="Aadil"/>
                <a:sym typeface="Aadil"/>
              </a:rPr>
              <a:t>Powered   Urban     Insights</a:t>
            </a:r>
          </a:p>
          <a:p>
            <a:pPr marL="906785" lvl="1" indent="-453392" algn="l">
              <a:lnSpc>
                <a:spcPts val="5880"/>
              </a:lnSpc>
              <a:buFont typeface="Arial"/>
              <a:buChar char="•"/>
            </a:pPr>
            <a:r>
              <a:rPr lang="en-US" sz="3200" dirty="0">
                <a:solidFill>
                  <a:srgbClr val="191919"/>
                </a:solidFill>
                <a:latin typeface="Aadil"/>
                <a:ea typeface="Aadil"/>
                <a:cs typeface="Aadil"/>
                <a:sym typeface="Aadil"/>
              </a:rPr>
              <a:t>Team   Leader Name : Nilesh    H.   </a:t>
            </a:r>
            <a:r>
              <a:rPr lang="en-US" sz="3200" dirty="0" err="1">
                <a:solidFill>
                  <a:srgbClr val="191919"/>
                </a:solidFill>
                <a:latin typeface="Aadil"/>
                <a:ea typeface="Aadil"/>
                <a:cs typeface="Aadil"/>
                <a:sym typeface="Aadil"/>
              </a:rPr>
              <a:t>Thipe</a:t>
            </a:r>
            <a:endParaRPr lang="en-US" sz="3200" dirty="0">
              <a:solidFill>
                <a:srgbClr val="191919"/>
              </a:solidFill>
              <a:latin typeface="Aadil"/>
              <a:ea typeface="Aadil"/>
              <a:cs typeface="Aadil"/>
              <a:sym typeface="Aadil"/>
            </a:endParaRPr>
          </a:p>
          <a:p>
            <a:pPr marL="906785" lvl="1" indent="-453392" algn="l">
              <a:lnSpc>
                <a:spcPts val="5880"/>
              </a:lnSpc>
              <a:buFont typeface="Arial"/>
              <a:buChar char="•"/>
            </a:pPr>
            <a:r>
              <a:rPr lang="en-US" sz="3200" dirty="0">
                <a:solidFill>
                  <a:srgbClr val="191919"/>
                </a:solidFill>
                <a:latin typeface="Aadil"/>
                <a:ea typeface="Aadil"/>
                <a:cs typeface="Aadil"/>
                <a:sym typeface="Aadil"/>
              </a:rPr>
              <a:t>Group No. – 18</a:t>
            </a:r>
          </a:p>
          <a:p>
            <a:pPr marL="906785" lvl="1" indent="-453392" algn="l">
              <a:lnSpc>
                <a:spcPts val="5880"/>
              </a:lnSpc>
              <a:buFont typeface="Arial"/>
              <a:buChar char="•"/>
            </a:pPr>
            <a:r>
              <a:rPr lang="en-US" sz="3200" dirty="0">
                <a:solidFill>
                  <a:srgbClr val="191919"/>
                </a:solidFill>
                <a:latin typeface="Aadil"/>
                <a:ea typeface="Aadil"/>
                <a:cs typeface="Aadil"/>
                <a:sym typeface="Aadil"/>
              </a:rPr>
              <a:t>Team Name :      Team     </a:t>
            </a:r>
            <a:r>
              <a:rPr lang="en-US" sz="3200" dirty="0" err="1">
                <a:solidFill>
                  <a:srgbClr val="191919"/>
                </a:solidFill>
                <a:latin typeface="Aadil"/>
                <a:ea typeface="Aadil"/>
                <a:cs typeface="Aadil"/>
                <a:sym typeface="Aadil"/>
              </a:rPr>
              <a:t>CodeX</a:t>
            </a:r>
            <a:endParaRPr lang="en-US" sz="3200" dirty="0">
              <a:solidFill>
                <a:srgbClr val="191919"/>
              </a:solidFill>
              <a:latin typeface="Aadil"/>
              <a:ea typeface="Aadil"/>
              <a:cs typeface="Aadil"/>
              <a:sym typeface="Aadil"/>
            </a:endParaRPr>
          </a:p>
          <a:p>
            <a:pPr marL="906785" lvl="1" indent="-453392" algn="l">
              <a:lnSpc>
                <a:spcPts val="5880"/>
              </a:lnSpc>
              <a:buFont typeface="Arial"/>
              <a:buChar char="•"/>
            </a:pPr>
            <a:r>
              <a:rPr lang="en-US" sz="3200" dirty="0">
                <a:solidFill>
                  <a:srgbClr val="191919"/>
                </a:solidFill>
                <a:latin typeface="Aadil"/>
                <a:ea typeface="Aadil"/>
                <a:cs typeface="Aadil"/>
                <a:sym typeface="Aadil"/>
              </a:rPr>
              <a:t>Members:- Nilesh </a:t>
            </a:r>
            <a:r>
              <a:rPr lang="en-US" sz="3200" dirty="0" err="1">
                <a:solidFill>
                  <a:srgbClr val="191919"/>
                </a:solidFill>
                <a:latin typeface="Aadil"/>
                <a:ea typeface="Aadil"/>
                <a:cs typeface="Aadil"/>
                <a:sym typeface="Aadil"/>
              </a:rPr>
              <a:t>Thipe</a:t>
            </a:r>
            <a:r>
              <a:rPr lang="en-US" sz="3200" dirty="0">
                <a:solidFill>
                  <a:srgbClr val="191919"/>
                </a:solidFill>
                <a:latin typeface="Aadil"/>
                <a:ea typeface="Aadil"/>
                <a:cs typeface="Aadil"/>
                <a:sym typeface="Aadil"/>
              </a:rPr>
              <a:t>,    Ashray    </a:t>
            </a:r>
            <a:r>
              <a:rPr lang="en-US" sz="3200" dirty="0" err="1">
                <a:solidFill>
                  <a:srgbClr val="191919"/>
                </a:solidFill>
                <a:latin typeface="Aadil"/>
                <a:ea typeface="Aadil"/>
                <a:cs typeface="Aadil"/>
                <a:sym typeface="Aadil"/>
              </a:rPr>
              <a:t>Anandgavkar</a:t>
            </a:r>
            <a:r>
              <a:rPr lang="en-US" sz="3200" dirty="0">
                <a:solidFill>
                  <a:srgbClr val="191919"/>
                </a:solidFill>
                <a:latin typeface="Aadil"/>
                <a:ea typeface="Aadil"/>
                <a:cs typeface="Aadil"/>
                <a:sym typeface="Aadil"/>
              </a:rPr>
              <a:t>,  Prathmesh       Bhoyar,  Sarthak       Waghmare</a:t>
            </a:r>
          </a:p>
          <a:p>
            <a:pPr marL="237512" lvl="1" indent="-118756" algn="l">
              <a:lnSpc>
                <a:spcPts val="1540"/>
              </a:lnSpc>
              <a:buAutoNum type="arabicPeriod"/>
            </a:pPr>
            <a:endParaRPr lang="en-US" sz="4200" dirty="0">
              <a:solidFill>
                <a:srgbClr val="191919"/>
              </a:solidFill>
              <a:latin typeface="Aadil"/>
              <a:ea typeface="Aadil"/>
              <a:cs typeface="Aadil"/>
              <a:sym typeface="Aadil"/>
            </a:endParaRPr>
          </a:p>
        </p:txBody>
      </p:sp>
      <p:sp>
        <p:nvSpPr>
          <p:cNvPr id="15" name="TextBox 15"/>
          <p:cNvSpPr txBox="1"/>
          <p:nvPr/>
        </p:nvSpPr>
        <p:spPr>
          <a:xfrm>
            <a:off x="2702936" y="9782428"/>
            <a:ext cx="9399570" cy="349250"/>
          </a:xfrm>
          <a:prstGeom prst="rect">
            <a:avLst/>
          </a:prstGeom>
        </p:spPr>
        <p:txBody>
          <a:bodyPr lIns="0" tIns="0" rIns="0" bIns="0" rtlCol="0" anchor="t">
            <a:spAutoFit/>
          </a:bodyPr>
          <a:lstStyle/>
          <a:p>
            <a:pPr algn="ctr">
              <a:lnSpc>
                <a:spcPts val="2800"/>
              </a:lnSpc>
            </a:pPr>
            <a:r>
              <a:rPr lang="en-US" sz="2000" b="1">
                <a:solidFill>
                  <a:srgbClr val="5C2D88"/>
                </a:solidFill>
                <a:latin typeface="Canva Sans Bold"/>
                <a:ea typeface="Canva Sans Bold"/>
                <a:cs typeface="Canva Sans Bold"/>
                <a:sym typeface="Canva Sans Bold"/>
              </a:rPr>
              <a:t>Nagpur | Pune | Jalgaon | Amravati | Pandhura | Bhandara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59528" y="911069"/>
            <a:ext cx="12444184" cy="1166986"/>
          </a:xfrm>
          <a:prstGeom prst="rect">
            <a:avLst/>
          </a:prstGeom>
        </p:spPr>
        <p:txBody>
          <a:bodyPr lIns="0" tIns="0" rIns="0" bIns="0" rtlCol="0" anchor="t">
            <a:spAutoFit/>
          </a:bodyPr>
          <a:lstStyle/>
          <a:p>
            <a:pPr algn="ctr">
              <a:lnSpc>
                <a:spcPts val="9121"/>
              </a:lnSpc>
            </a:pPr>
            <a:r>
              <a:rPr lang="en-US" sz="7600" b="1" spc="-456" dirty="0" err="1">
                <a:solidFill>
                  <a:srgbClr val="000000"/>
                </a:solidFill>
                <a:latin typeface="Goudy Bold"/>
                <a:ea typeface="Goudy Bold"/>
                <a:cs typeface="Goudy Bold"/>
                <a:sym typeface="Goudy Bold"/>
              </a:rPr>
              <a:t>NagarDrishti</a:t>
            </a:r>
            <a:r>
              <a:rPr lang="en-US" sz="7600" b="1" spc="-456" dirty="0">
                <a:solidFill>
                  <a:srgbClr val="000000"/>
                </a:solidFill>
                <a:latin typeface="Goudy Bold"/>
                <a:ea typeface="Goudy Bold"/>
                <a:cs typeface="Goudy Bold"/>
                <a:sym typeface="Goudy Bold"/>
              </a:rPr>
              <a:t> AI</a:t>
            </a:r>
          </a:p>
        </p:txBody>
      </p:sp>
      <p:grpSp>
        <p:nvGrpSpPr>
          <p:cNvPr id="3" name="Group 3"/>
          <p:cNvGrpSpPr/>
          <p:nvPr/>
        </p:nvGrpSpPr>
        <p:grpSpPr>
          <a:xfrm>
            <a:off x="15652205" y="9565386"/>
            <a:ext cx="2407958" cy="661283"/>
            <a:chOff x="0" y="0"/>
            <a:chExt cx="634195" cy="174165"/>
          </a:xfrm>
        </p:grpSpPr>
        <p:sp>
          <p:nvSpPr>
            <p:cNvPr id="4" name="Freeform 4"/>
            <p:cNvSpPr/>
            <p:nvPr/>
          </p:nvSpPr>
          <p:spPr>
            <a:xfrm>
              <a:off x="0" y="0"/>
              <a:ext cx="634195" cy="174165"/>
            </a:xfrm>
            <a:custGeom>
              <a:avLst/>
              <a:gdLst/>
              <a:ahLst/>
              <a:cxnLst/>
              <a:rect l="l" t="t" r="r" b="b"/>
              <a:pathLst>
                <a:path w="634195" h="174165">
                  <a:moveTo>
                    <a:pt x="87083" y="0"/>
                  </a:moveTo>
                  <a:lnTo>
                    <a:pt x="547112" y="0"/>
                  </a:lnTo>
                  <a:cubicBezTo>
                    <a:pt x="570208" y="0"/>
                    <a:pt x="592358" y="9175"/>
                    <a:pt x="608689" y="25506"/>
                  </a:cubicBezTo>
                  <a:cubicBezTo>
                    <a:pt x="625020" y="41837"/>
                    <a:pt x="634195" y="63987"/>
                    <a:pt x="634195" y="87083"/>
                  </a:cubicBezTo>
                  <a:lnTo>
                    <a:pt x="634195" y="87083"/>
                  </a:lnTo>
                  <a:cubicBezTo>
                    <a:pt x="634195" y="110178"/>
                    <a:pt x="625020" y="132328"/>
                    <a:pt x="608689" y="148659"/>
                  </a:cubicBezTo>
                  <a:cubicBezTo>
                    <a:pt x="592358" y="164990"/>
                    <a:pt x="570208" y="174165"/>
                    <a:pt x="547112" y="174165"/>
                  </a:cubicBezTo>
                  <a:lnTo>
                    <a:pt x="87083" y="174165"/>
                  </a:lnTo>
                  <a:cubicBezTo>
                    <a:pt x="63987" y="174165"/>
                    <a:pt x="41837" y="164990"/>
                    <a:pt x="25506" y="148659"/>
                  </a:cubicBezTo>
                  <a:cubicBezTo>
                    <a:pt x="9175" y="132328"/>
                    <a:pt x="0" y="110178"/>
                    <a:pt x="0" y="87083"/>
                  </a:cubicBezTo>
                  <a:lnTo>
                    <a:pt x="0" y="87083"/>
                  </a:lnTo>
                  <a:cubicBezTo>
                    <a:pt x="0" y="63987"/>
                    <a:pt x="9175" y="41837"/>
                    <a:pt x="25506" y="25506"/>
                  </a:cubicBezTo>
                  <a:cubicBezTo>
                    <a:pt x="41837" y="9175"/>
                    <a:pt x="63987" y="0"/>
                    <a:pt x="87083" y="0"/>
                  </a:cubicBezTo>
                  <a:close/>
                </a:path>
              </a:pathLst>
            </a:custGeom>
            <a:solidFill>
              <a:srgbClr val="98C4EC"/>
            </a:solidFill>
          </p:spPr>
        </p:sp>
        <p:sp>
          <p:nvSpPr>
            <p:cNvPr id="5" name="TextBox 5"/>
            <p:cNvSpPr txBox="1"/>
            <p:nvPr/>
          </p:nvSpPr>
          <p:spPr>
            <a:xfrm>
              <a:off x="0" y="-57150"/>
              <a:ext cx="634195" cy="231315"/>
            </a:xfrm>
            <a:prstGeom prst="rect">
              <a:avLst/>
            </a:prstGeom>
          </p:spPr>
          <p:txBody>
            <a:bodyPr lIns="50800" tIns="50800" rIns="50800" bIns="50800" rtlCol="0" anchor="ctr"/>
            <a:lstStyle/>
            <a:p>
              <a:pPr algn="ctr">
                <a:lnSpc>
                  <a:spcPts val="3919"/>
                </a:lnSpc>
              </a:pPr>
              <a:r>
                <a:rPr lang="en-US" sz="2799" b="1" dirty="0">
                  <a:solidFill>
                    <a:srgbClr val="FFFFFF"/>
                  </a:solidFill>
                  <a:latin typeface="Neue Montreal Bold"/>
                  <a:ea typeface="Neue Montreal Bold"/>
                  <a:cs typeface="Neue Montreal Bold"/>
                  <a:sym typeface="Neue Montreal Bold"/>
                </a:rPr>
                <a:t>GROUP-18</a:t>
              </a:r>
            </a:p>
          </p:txBody>
        </p:sp>
      </p:grpSp>
      <p:sp>
        <p:nvSpPr>
          <p:cNvPr id="6" name="Freeform 6"/>
          <p:cNvSpPr/>
          <p:nvPr/>
        </p:nvSpPr>
        <p:spPr>
          <a:xfrm>
            <a:off x="15457048" y="-279179"/>
            <a:ext cx="2603115" cy="2603115"/>
          </a:xfrm>
          <a:custGeom>
            <a:avLst/>
            <a:gdLst/>
            <a:ahLst/>
            <a:cxnLst/>
            <a:rect l="l" t="t" r="r" b="b"/>
            <a:pathLst>
              <a:path w="2603115" h="2603115">
                <a:moveTo>
                  <a:pt x="0" y="0"/>
                </a:moveTo>
                <a:lnTo>
                  <a:pt x="2603114" y="0"/>
                </a:lnTo>
                <a:lnTo>
                  <a:pt x="2603114" y="2603115"/>
                </a:lnTo>
                <a:lnTo>
                  <a:pt x="0" y="2603115"/>
                </a:lnTo>
                <a:lnTo>
                  <a:pt x="0" y="0"/>
                </a:lnTo>
                <a:close/>
              </a:path>
            </a:pathLst>
          </a:custGeom>
          <a:blipFill>
            <a:blip r:embed="rId2"/>
            <a:stretch>
              <a:fillRect/>
            </a:stretch>
          </a:blipFill>
        </p:spPr>
        <p:txBody>
          <a:bodyPr/>
          <a:lstStyle/>
          <a:p>
            <a:endParaRPr lang="en-US" dirty="0"/>
          </a:p>
        </p:txBody>
      </p:sp>
      <p:sp>
        <p:nvSpPr>
          <p:cNvPr id="7" name="Freeform 7"/>
          <p:cNvSpPr/>
          <p:nvPr/>
        </p:nvSpPr>
        <p:spPr>
          <a:xfrm>
            <a:off x="685800" y="552285"/>
            <a:ext cx="3094349" cy="1450639"/>
          </a:xfrm>
          <a:custGeom>
            <a:avLst/>
            <a:gdLst/>
            <a:ahLst/>
            <a:cxnLst/>
            <a:rect l="l" t="t" r="r" b="b"/>
            <a:pathLst>
              <a:path w="3094349" h="1450639">
                <a:moveTo>
                  <a:pt x="0" y="0"/>
                </a:moveTo>
                <a:lnTo>
                  <a:pt x="3094349" y="0"/>
                </a:lnTo>
                <a:lnTo>
                  <a:pt x="3094349" y="1450639"/>
                </a:lnTo>
                <a:lnTo>
                  <a:pt x="0" y="1450639"/>
                </a:lnTo>
                <a:lnTo>
                  <a:pt x="0" y="0"/>
                </a:lnTo>
                <a:close/>
              </a:path>
            </a:pathLst>
          </a:custGeom>
          <a:blipFill>
            <a:blip r:embed="rId3"/>
            <a:stretch>
              <a:fillRect/>
            </a:stretch>
          </a:blipFill>
        </p:spPr>
        <p:txBody>
          <a:bodyPr/>
          <a:lstStyle/>
          <a:p>
            <a:endParaRPr lang="en-US" dirty="0"/>
          </a:p>
        </p:txBody>
      </p:sp>
      <p:sp>
        <p:nvSpPr>
          <p:cNvPr id="8" name="Freeform 8"/>
          <p:cNvSpPr/>
          <p:nvPr/>
        </p:nvSpPr>
        <p:spPr>
          <a:xfrm>
            <a:off x="131324" y="9358753"/>
            <a:ext cx="2275834" cy="772925"/>
          </a:xfrm>
          <a:custGeom>
            <a:avLst/>
            <a:gdLst/>
            <a:ahLst/>
            <a:cxnLst/>
            <a:rect l="l" t="t" r="r" b="b"/>
            <a:pathLst>
              <a:path w="2275834" h="772925">
                <a:moveTo>
                  <a:pt x="0" y="0"/>
                </a:moveTo>
                <a:lnTo>
                  <a:pt x="2275834" y="0"/>
                </a:lnTo>
                <a:lnTo>
                  <a:pt x="2275834" y="772925"/>
                </a:lnTo>
                <a:lnTo>
                  <a:pt x="0" y="772925"/>
                </a:lnTo>
                <a:lnTo>
                  <a:pt x="0" y="0"/>
                </a:lnTo>
                <a:close/>
              </a:path>
            </a:pathLst>
          </a:custGeom>
          <a:blipFill>
            <a:blip r:embed="rId4"/>
            <a:stretch>
              <a:fillRect/>
            </a:stretch>
          </a:blipFill>
        </p:spPr>
      </p:sp>
      <p:sp>
        <p:nvSpPr>
          <p:cNvPr id="9" name="AutoShape 9"/>
          <p:cNvSpPr/>
          <p:nvPr/>
        </p:nvSpPr>
        <p:spPr>
          <a:xfrm>
            <a:off x="2930000" y="9696477"/>
            <a:ext cx="12198330" cy="0"/>
          </a:xfrm>
          <a:prstGeom prst="line">
            <a:avLst/>
          </a:prstGeom>
          <a:ln w="28575" cap="flat">
            <a:solidFill>
              <a:srgbClr val="AA1313"/>
            </a:solidFill>
            <a:prstDash val="solid"/>
            <a:headEnd type="none" w="sm" len="sm"/>
            <a:tailEnd type="none" w="sm" len="sm"/>
          </a:ln>
        </p:spPr>
      </p:sp>
      <p:sp>
        <p:nvSpPr>
          <p:cNvPr id="10" name="TextBox 10"/>
          <p:cNvSpPr txBox="1"/>
          <p:nvPr/>
        </p:nvSpPr>
        <p:spPr>
          <a:xfrm>
            <a:off x="1843642" y="9697590"/>
            <a:ext cx="9399570" cy="349250"/>
          </a:xfrm>
          <a:prstGeom prst="rect">
            <a:avLst/>
          </a:prstGeom>
        </p:spPr>
        <p:txBody>
          <a:bodyPr lIns="0" tIns="0" rIns="0" bIns="0" rtlCol="0" anchor="t">
            <a:spAutoFit/>
          </a:bodyPr>
          <a:lstStyle/>
          <a:p>
            <a:pPr algn="ctr">
              <a:lnSpc>
                <a:spcPts val="2800"/>
              </a:lnSpc>
            </a:pPr>
            <a:r>
              <a:rPr lang="en-US" sz="2000" b="1">
                <a:solidFill>
                  <a:srgbClr val="5C2D88"/>
                </a:solidFill>
                <a:latin typeface="Canva Sans Bold"/>
                <a:ea typeface="Canva Sans Bold"/>
                <a:cs typeface="Canva Sans Bold"/>
                <a:sym typeface="Canva Sans Bold"/>
              </a:rPr>
              <a:t>Nagpur | Pune | Jalgaon | Amravati | Pandhura | Bhandara</a:t>
            </a:r>
          </a:p>
        </p:txBody>
      </p:sp>
      <p:sp>
        <p:nvSpPr>
          <p:cNvPr id="11" name="TextBox 11"/>
          <p:cNvSpPr txBox="1"/>
          <p:nvPr/>
        </p:nvSpPr>
        <p:spPr>
          <a:xfrm>
            <a:off x="816888" y="2901898"/>
            <a:ext cx="16424553" cy="5632311"/>
          </a:xfrm>
          <a:prstGeom prst="rect">
            <a:avLst/>
          </a:prstGeom>
        </p:spPr>
        <p:txBody>
          <a:bodyPr lIns="0" tIns="0" rIns="0" bIns="0" rtlCol="0" anchor="t">
            <a:spAutoFit/>
          </a:bodyPr>
          <a:lstStyle/>
          <a:p>
            <a:r>
              <a:rPr lang="en-US" sz="2400" b="1" dirty="0"/>
              <a:t>Proposed Solution – </a:t>
            </a:r>
            <a:r>
              <a:rPr lang="en-US" sz="2400" b="1" dirty="0" err="1"/>
              <a:t>NagarDrishti</a:t>
            </a:r>
            <a:r>
              <a:rPr lang="en-US" sz="2400" b="1" dirty="0"/>
              <a:t> AI</a:t>
            </a:r>
          </a:p>
          <a:p>
            <a:r>
              <a:rPr lang="en-US" sz="2400" dirty="0" err="1"/>
              <a:t>NagarDrishti</a:t>
            </a:r>
            <a:r>
              <a:rPr lang="en-US" sz="2400" dirty="0"/>
              <a:t> AI is a smart city analytics platform that helps administrators analyze urban data such as traffic congestion, air quality, public transport usage, energy consumption, and water usage. The system integrates data from different city systems and presents it through an interactive dashboard with graphs, maps, and AI-based insights.</a:t>
            </a:r>
          </a:p>
          <a:p>
            <a:endParaRPr lang="en-US" dirty="0">
              <a:solidFill>
                <a:srgbClr val="000000"/>
              </a:solidFill>
              <a:latin typeface="DM Sans"/>
              <a:ea typeface="DM Sans"/>
              <a:cs typeface="DM Sans"/>
              <a:sym typeface="DM Sans"/>
            </a:endParaRPr>
          </a:p>
          <a:p>
            <a:r>
              <a:rPr lang="en-US" sz="2800" b="1" dirty="0"/>
              <a:t>How It Addresses the Problem</a:t>
            </a:r>
          </a:p>
          <a:p>
            <a:r>
              <a:rPr lang="en-US" sz="2800" dirty="0"/>
              <a:t>• Combines fragmented urban data into one platform</a:t>
            </a:r>
            <a:br>
              <a:rPr lang="en-US" sz="2800" dirty="0"/>
            </a:br>
            <a:r>
              <a:rPr lang="en-US" sz="2800" dirty="0"/>
              <a:t>• Provides city and area-level analytics for better decision making</a:t>
            </a:r>
            <a:br>
              <a:rPr lang="en-US" sz="2800" dirty="0"/>
            </a:br>
            <a:r>
              <a:rPr lang="en-US" sz="2800" dirty="0"/>
              <a:t>• Helps identify traffic, pollution, and resource usage patterns</a:t>
            </a:r>
          </a:p>
          <a:p>
            <a:endParaRPr lang="en-US" sz="2800" dirty="0"/>
          </a:p>
          <a:p>
            <a:r>
              <a:rPr lang="en-US" sz="2800" b="1" dirty="0"/>
              <a:t>Innovation and Uniqueness</a:t>
            </a:r>
          </a:p>
          <a:p>
            <a:r>
              <a:rPr lang="en-US" sz="2800" dirty="0"/>
              <a:t>• Area-level smart city monitoring</a:t>
            </a:r>
            <a:br>
              <a:rPr lang="en-US" sz="2800" dirty="0"/>
            </a:br>
            <a:r>
              <a:rPr lang="en-US" sz="2800" dirty="0"/>
              <a:t>• AI insights explaining urban trends</a:t>
            </a:r>
            <a:br>
              <a:rPr lang="en-US" sz="2800" dirty="0"/>
            </a:br>
            <a:r>
              <a:rPr lang="en-US" sz="2800" dirty="0"/>
              <a:t>• Interactive dashboards, maps, and automated report generation</a:t>
            </a:r>
          </a:p>
        </p:txBody>
      </p:sp>
      <p:sp>
        <p:nvSpPr>
          <p:cNvPr id="12" name="Freeform 12"/>
          <p:cNvSpPr/>
          <p:nvPr/>
        </p:nvSpPr>
        <p:spPr>
          <a:xfrm>
            <a:off x="4147772" y="1881702"/>
            <a:ext cx="9228841" cy="6523595"/>
          </a:xfrm>
          <a:custGeom>
            <a:avLst/>
            <a:gdLst/>
            <a:ahLst/>
            <a:cxnLst/>
            <a:rect l="l" t="t" r="r" b="b"/>
            <a:pathLst>
              <a:path w="9228841" h="6523595">
                <a:moveTo>
                  <a:pt x="0" y="0"/>
                </a:moveTo>
                <a:lnTo>
                  <a:pt x="9228841" y="0"/>
                </a:lnTo>
                <a:lnTo>
                  <a:pt x="9228841" y="6523596"/>
                </a:lnTo>
                <a:lnTo>
                  <a:pt x="0" y="6523596"/>
                </a:lnTo>
                <a:lnTo>
                  <a:pt x="0" y="0"/>
                </a:lnTo>
                <a:close/>
              </a:path>
            </a:pathLst>
          </a:custGeom>
          <a:blipFill>
            <a:blip r:embed="rId2">
              <a:alphaModFix amt="9999"/>
            </a:blip>
            <a:stretch>
              <a:fillRect l="-3515" t="-23221" b="-23221"/>
            </a:stretch>
          </a:blipFill>
        </p:spPr>
        <p:txBody>
          <a:bodyPr/>
          <a:lstStyle/>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807073" y="1746207"/>
            <a:ext cx="12444184" cy="914417"/>
          </a:xfrm>
          <a:prstGeom prst="rect">
            <a:avLst/>
          </a:prstGeom>
        </p:spPr>
        <p:txBody>
          <a:bodyPr lIns="0" tIns="0" rIns="0" bIns="0" rtlCol="0" anchor="t">
            <a:spAutoFit/>
          </a:bodyPr>
          <a:lstStyle/>
          <a:p>
            <a:pPr>
              <a:lnSpc>
                <a:spcPts val="7681"/>
              </a:lnSpc>
            </a:pPr>
            <a:r>
              <a:rPr lang="en-US" sz="5400" dirty="0">
                <a:latin typeface="Goudy Bold" panose="020B0604020202020204" charset="0"/>
              </a:rPr>
              <a:t>Feasibility and Viability – </a:t>
            </a:r>
            <a:r>
              <a:rPr lang="en-US" sz="5400" dirty="0" err="1">
                <a:latin typeface="Goudy Bold" panose="020B0604020202020204" charset="0"/>
              </a:rPr>
              <a:t>NagarDrishti</a:t>
            </a:r>
            <a:r>
              <a:rPr lang="en-US" sz="5400" dirty="0">
                <a:latin typeface="Goudy Bold" panose="020B0604020202020204" charset="0"/>
              </a:rPr>
              <a:t> AI</a:t>
            </a:r>
            <a:endParaRPr lang="en-US" sz="5400" b="1" spc="-384" dirty="0">
              <a:solidFill>
                <a:srgbClr val="000000"/>
              </a:solidFill>
              <a:latin typeface="Goudy Bold" panose="020B0604020202020204" charset="0"/>
              <a:ea typeface="Goudy Bold"/>
              <a:cs typeface="Goudy Bold"/>
              <a:sym typeface="Goudy Bold"/>
            </a:endParaRPr>
          </a:p>
        </p:txBody>
      </p:sp>
      <p:grpSp>
        <p:nvGrpSpPr>
          <p:cNvPr id="3" name="Group 3"/>
          <p:cNvGrpSpPr/>
          <p:nvPr/>
        </p:nvGrpSpPr>
        <p:grpSpPr>
          <a:xfrm>
            <a:off x="15652205" y="9565386"/>
            <a:ext cx="2407958" cy="661283"/>
            <a:chOff x="0" y="0"/>
            <a:chExt cx="634195" cy="174165"/>
          </a:xfrm>
        </p:grpSpPr>
        <p:sp>
          <p:nvSpPr>
            <p:cNvPr id="4" name="Freeform 4"/>
            <p:cNvSpPr/>
            <p:nvPr/>
          </p:nvSpPr>
          <p:spPr>
            <a:xfrm>
              <a:off x="0" y="0"/>
              <a:ext cx="634195" cy="174165"/>
            </a:xfrm>
            <a:custGeom>
              <a:avLst/>
              <a:gdLst/>
              <a:ahLst/>
              <a:cxnLst/>
              <a:rect l="l" t="t" r="r" b="b"/>
              <a:pathLst>
                <a:path w="634195" h="174165">
                  <a:moveTo>
                    <a:pt x="87083" y="0"/>
                  </a:moveTo>
                  <a:lnTo>
                    <a:pt x="547112" y="0"/>
                  </a:lnTo>
                  <a:cubicBezTo>
                    <a:pt x="570208" y="0"/>
                    <a:pt x="592358" y="9175"/>
                    <a:pt x="608689" y="25506"/>
                  </a:cubicBezTo>
                  <a:cubicBezTo>
                    <a:pt x="625020" y="41837"/>
                    <a:pt x="634195" y="63987"/>
                    <a:pt x="634195" y="87083"/>
                  </a:cubicBezTo>
                  <a:lnTo>
                    <a:pt x="634195" y="87083"/>
                  </a:lnTo>
                  <a:cubicBezTo>
                    <a:pt x="634195" y="110178"/>
                    <a:pt x="625020" y="132328"/>
                    <a:pt x="608689" y="148659"/>
                  </a:cubicBezTo>
                  <a:cubicBezTo>
                    <a:pt x="592358" y="164990"/>
                    <a:pt x="570208" y="174165"/>
                    <a:pt x="547112" y="174165"/>
                  </a:cubicBezTo>
                  <a:lnTo>
                    <a:pt x="87083" y="174165"/>
                  </a:lnTo>
                  <a:cubicBezTo>
                    <a:pt x="63987" y="174165"/>
                    <a:pt x="41837" y="164990"/>
                    <a:pt x="25506" y="148659"/>
                  </a:cubicBezTo>
                  <a:cubicBezTo>
                    <a:pt x="9175" y="132328"/>
                    <a:pt x="0" y="110178"/>
                    <a:pt x="0" y="87083"/>
                  </a:cubicBezTo>
                  <a:lnTo>
                    <a:pt x="0" y="87083"/>
                  </a:lnTo>
                  <a:cubicBezTo>
                    <a:pt x="0" y="63987"/>
                    <a:pt x="9175" y="41837"/>
                    <a:pt x="25506" y="25506"/>
                  </a:cubicBezTo>
                  <a:cubicBezTo>
                    <a:pt x="41837" y="9175"/>
                    <a:pt x="63987" y="0"/>
                    <a:pt x="87083" y="0"/>
                  </a:cubicBezTo>
                  <a:close/>
                </a:path>
              </a:pathLst>
            </a:custGeom>
            <a:solidFill>
              <a:srgbClr val="98C4EC"/>
            </a:solidFill>
          </p:spPr>
        </p:sp>
        <p:sp>
          <p:nvSpPr>
            <p:cNvPr id="5" name="TextBox 5"/>
            <p:cNvSpPr txBox="1"/>
            <p:nvPr/>
          </p:nvSpPr>
          <p:spPr>
            <a:xfrm>
              <a:off x="0" y="-57150"/>
              <a:ext cx="634195" cy="231315"/>
            </a:xfrm>
            <a:prstGeom prst="rect">
              <a:avLst/>
            </a:prstGeom>
          </p:spPr>
          <p:txBody>
            <a:bodyPr lIns="50800" tIns="50800" rIns="50800" bIns="50800" rtlCol="0" anchor="ctr"/>
            <a:lstStyle/>
            <a:p>
              <a:pPr algn="ctr">
                <a:lnSpc>
                  <a:spcPts val="3919"/>
                </a:lnSpc>
              </a:pPr>
              <a:r>
                <a:rPr lang="en-US" sz="2799" b="1" dirty="0">
                  <a:solidFill>
                    <a:srgbClr val="FFFFFF"/>
                  </a:solidFill>
                  <a:latin typeface="Neue Montreal Bold"/>
                  <a:ea typeface="Neue Montreal Bold"/>
                  <a:cs typeface="Neue Montreal Bold"/>
                  <a:sym typeface="Neue Montreal Bold"/>
                </a:rPr>
                <a:t>GROUP-18</a:t>
              </a:r>
            </a:p>
          </p:txBody>
        </p:sp>
      </p:grpSp>
      <p:sp>
        <p:nvSpPr>
          <p:cNvPr id="8" name="Freeform 8"/>
          <p:cNvSpPr/>
          <p:nvPr/>
        </p:nvSpPr>
        <p:spPr>
          <a:xfrm>
            <a:off x="131324" y="9358753"/>
            <a:ext cx="2275834" cy="772925"/>
          </a:xfrm>
          <a:custGeom>
            <a:avLst/>
            <a:gdLst/>
            <a:ahLst/>
            <a:cxnLst/>
            <a:rect l="l" t="t" r="r" b="b"/>
            <a:pathLst>
              <a:path w="2275834" h="772925">
                <a:moveTo>
                  <a:pt x="0" y="0"/>
                </a:moveTo>
                <a:lnTo>
                  <a:pt x="2275834" y="0"/>
                </a:lnTo>
                <a:lnTo>
                  <a:pt x="2275834" y="772925"/>
                </a:lnTo>
                <a:lnTo>
                  <a:pt x="0" y="772925"/>
                </a:lnTo>
                <a:lnTo>
                  <a:pt x="0" y="0"/>
                </a:lnTo>
                <a:close/>
              </a:path>
            </a:pathLst>
          </a:custGeom>
          <a:blipFill>
            <a:blip r:embed="rId2"/>
            <a:stretch>
              <a:fillRect/>
            </a:stretch>
          </a:blipFill>
        </p:spPr>
      </p:sp>
      <p:sp>
        <p:nvSpPr>
          <p:cNvPr id="9" name="AutoShape 9"/>
          <p:cNvSpPr/>
          <p:nvPr/>
        </p:nvSpPr>
        <p:spPr>
          <a:xfrm>
            <a:off x="2930000" y="9696477"/>
            <a:ext cx="12198330" cy="0"/>
          </a:xfrm>
          <a:prstGeom prst="line">
            <a:avLst/>
          </a:prstGeom>
          <a:ln w="28575" cap="flat">
            <a:solidFill>
              <a:srgbClr val="AA1313"/>
            </a:solidFill>
            <a:prstDash val="solid"/>
            <a:headEnd type="none" w="sm" len="sm"/>
            <a:tailEnd type="none" w="sm" len="sm"/>
          </a:ln>
        </p:spPr>
      </p:sp>
      <p:sp>
        <p:nvSpPr>
          <p:cNvPr id="10" name="TextBox 10"/>
          <p:cNvSpPr txBox="1"/>
          <p:nvPr/>
        </p:nvSpPr>
        <p:spPr>
          <a:xfrm>
            <a:off x="1843642" y="9697590"/>
            <a:ext cx="9399570" cy="349250"/>
          </a:xfrm>
          <a:prstGeom prst="rect">
            <a:avLst/>
          </a:prstGeom>
        </p:spPr>
        <p:txBody>
          <a:bodyPr lIns="0" tIns="0" rIns="0" bIns="0" rtlCol="0" anchor="t">
            <a:spAutoFit/>
          </a:bodyPr>
          <a:lstStyle/>
          <a:p>
            <a:pPr algn="ctr">
              <a:lnSpc>
                <a:spcPts val="2800"/>
              </a:lnSpc>
            </a:pPr>
            <a:r>
              <a:rPr lang="en-US" sz="2000" b="1">
                <a:solidFill>
                  <a:srgbClr val="5C2D88"/>
                </a:solidFill>
                <a:latin typeface="Canva Sans Bold"/>
                <a:ea typeface="Canva Sans Bold"/>
                <a:cs typeface="Canva Sans Bold"/>
                <a:sym typeface="Canva Sans Bold"/>
              </a:rPr>
              <a:t>Nagpur | Pune | Jalgaon | Amravati | Pandhura | Bhandara</a:t>
            </a:r>
          </a:p>
        </p:txBody>
      </p:sp>
      <p:sp>
        <p:nvSpPr>
          <p:cNvPr id="11" name="TextBox 11"/>
          <p:cNvSpPr txBox="1"/>
          <p:nvPr/>
        </p:nvSpPr>
        <p:spPr>
          <a:xfrm>
            <a:off x="931723" y="3108026"/>
            <a:ext cx="16424553" cy="6155531"/>
          </a:xfrm>
          <a:prstGeom prst="rect">
            <a:avLst/>
          </a:prstGeom>
        </p:spPr>
        <p:txBody>
          <a:bodyPr lIns="0" tIns="0" rIns="0" bIns="0" rtlCol="0" anchor="t">
            <a:spAutoFit/>
          </a:bodyPr>
          <a:lstStyle/>
          <a:p>
            <a:r>
              <a:rPr lang="en-US" sz="4000" b="1" dirty="0"/>
              <a:t>Feasibility of the Idea</a:t>
            </a:r>
            <a:br>
              <a:rPr lang="en-US" sz="4000" dirty="0"/>
            </a:br>
            <a:r>
              <a:rPr lang="en-US" sz="4000" dirty="0"/>
              <a:t>• Uses existing smart city data such as traffic, pollution, transport, and energy systems</a:t>
            </a:r>
            <a:br>
              <a:rPr lang="en-US" sz="4000" dirty="0"/>
            </a:br>
            <a:r>
              <a:rPr lang="en-US" sz="4000" dirty="0"/>
              <a:t>• Can be implemented using web dashboards, APIs, and data analytics tools</a:t>
            </a:r>
          </a:p>
          <a:p>
            <a:r>
              <a:rPr lang="en-US" sz="4000" b="1" dirty="0"/>
              <a:t>Potential Challenges</a:t>
            </a:r>
            <a:br>
              <a:rPr lang="en-US" sz="4000" dirty="0"/>
            </a:br>
            <a:r>
              <a:rPr lang="en-US" sz="4000" dirty="0"/>
              <a:t>• Data availability and integration from different city systems</a:t>
            </a:r>
            <a:br>
              <a:rPr lang="en-US" sz="4000" dirty="0"/>
            </a:br>
            <a:r>
              <a:rPr lang="en-US" sz="4000" dirty="0"/>
              <a:t>• Ensuring real-time data accuracy and scalability</a:t>
            </a:r>
          </a:p>
          <a:p>
            <a:r>
              <a:rPr lang="en-US" sz="4000" b="1" dirty="0"/>
              <a:t>Strategies to Overcome Challenges</a:t>
            </a:r>
            <a:br>
              <a:rPr lang="en-US" sz="4000" dirty="0"/>
            </a:br>
            <a:r>
              <a:rPr lang="en-US" sz="4000" dirty="0"/>
              <a:t>• Use standardized APIs and data formats</a:t>
            </a:r>
            <a:br>
              <a:rPr lang="en-US" sz="4000" dirty="0"/>
            </a:br>
            <a:r>
              <a:rPr lang="en-US" sz="4000" dirty="0"/>
              <a:t>• Apply scalable cloud-based analytics and AI models</a:t>
            </a:r>
          </a:p>
        </p:txBody>
      </p:sp>
      <p:sp>
        <p:nvSpPr>
          <p:cNvPr id="12" name="Freeform 12"/>
          <p:cNvSpPr/>
          <p:nvPr/>
        </p:nvSpPr>
        <p:spPr>
          <a:xfrm>
            <a:off x="4029486" y="2075214"/>
            <a:ext cx="9228841" cy="6523595"/>
          </a:xfrm>
          <a:custGeom>
            <a:avLst/>
            <a:gdLst/>
            <a:ahLst/>
            <a:cxnLst/>
            <a:rect l="l" t="t" r="r" b="b"/>
            <a:pathLst>
              <a:path w="9228841" h="6523595">
                <a:moveTo>
                  <a:pt x="0" y="0"/>
                </a:moveTo>
                <a:lnTo>
                  <a:pt x="9228841" y="0"/>
                </a:lnTo>
                <a:lnTo>
                  <a:pt x="9228841" y="6523596"/>
                </a:lnTo>
                <a:lnTo>
                  <a:pt x="0" y="6523596"/>
                </a:lnTo>
                <a:lnTo>
                  <a:pt x="0" y="0"/>
                </a:lnTo>
                <a:close/>
              </a:path>
            </a:pathLst>
          </a:custGeom>
          <a:blipFill>
            <a:blip r:embed="rId3">
              <a:alphaModFix amt="9999"/>
            </a:blip>
            <a:stretch>
              <a:fillRect l="-3515" t="-23221" b="-23221"/>
            </a:stretch>
          </a:blipFill>
        </p:spPr>
      </p:sp>
      <p:sp>
        <p:nvSpPr>
          <p:cNvPr id="13" name="Freeform 6">
            <a:extLst>
              <a:ext uri="{FF2B5EF4-FFF2-40B4-BE49-F238E27FC236}">
                <a16:creationId xmlns:a16="http://schemas.microsoft.com/office/drawing/2014/main" id="{C127F7A9-AC52-7E53-92C7-C287A451B105}"/>
              </a:ext>
            </a:extLst>
          </p:cNvPr>
          <p:cNvSpPr/>
          <p:nvPr/>
        </p:nvSpPr>
        <p:spPr>
          <a:xfrm>
            <a:off x="15457048" y="-279179"/>
            <a:ext cx="2603115" cy="2603115"/>
          </a:xfrm>
          <a:custGeom>
            <a:avLst/>
            <a:gdLst/>
            <a:ahLst/>
            <a:cxnLst/>
            <a:rect l="l" t="t" r="r" b="b"/>
            <a:pathLst>
              <a:path w="2603115" h="2603115">
                <a:moveTo>
                  <a:pt x="0" y="0"/>
                </a:moveTo>
                <a:lnTo>
                  <a:pt x="2603114" y="0"/>
                </a:lnTo>
                <a:lnTo>
                  <a:pt x="2603114" y="2603115"/>
                </a:lnTo>
                <a:lnTo>
                  <a:pt x="0" y="2603115"/>
                </a:lnTo>
                <a:lnTo>
                  <a:pt x="0" y="0"/>
                </a:lnTo>
                <a:close/>
              </a:path>
            </a:pathLst>
          </a:custGeom>
          <a:blipFill>
            <a:blip r:embed="rId3"/>
            <a:stretch>
              <a:fillRect/>
            </a:stretch>
          </a:blipFill>
        </p:spPr>
        <p:txBody>
          <a:bodyPr/>
          <a:lstStyle/>
          <a:p>
            <a:endParaRPr lang="en-US" dirty="0"/>
          </a:p>
        </p:txBody>
      </p:sp>
      <p:sp>
        <p:nvSpPr>
          <p:cNvPr id="14" name="Freeform 7">
            <a:extLst>
              <a:ext uri="{FF2B5EF4-FFF2-40B4-BE49-F238E27FC236}">
                <a16:creationId xmlns:a16="http://schemas.microsoft.com/office/drawing/2014/main" id="{F9F0EAEE-B967-639A-F3A5-C4475EDC0C7E}"/>
              </a:ext>
            </a:extLst>
          </p:cNvPr>
          <p:cNvSpPr/>
          <p:nvPr/>
        </p:nvSpPr>
        <p:spPr>
          <a:xfrm>
            <a:off x="685800" y="552285"/>
            <a:ext cx="3094349" cy="1450639"/>
          </a:xfrm>
          <a:custGeom>
            <a:avLst/>
            <a:gdLst/>
            <a:ahLst/>
            <a:cxnLst/>
            <a:rect l="l" t="t" r="r" b="b"/>
            <a:pathLst>
              <a:path w="3094349" h="1450639">
                <a:moveTo>
                  <a:pt x="0" y="0"/>
                </a:moveTo>
                <a:lnTo>
                  <a:pt x="3094349" y="0"/>
                </a:lnTo>
                <a:lnTo>
                  <a:pt x="3094349" y="1450639"/>
                </a:lnTo>
                <a:lnTo>
                  <a:pt x="0" y="1450639"/>
                </a:lnTo>
                <a:lnTo>
                  <a:pt x="0" y="0"/>
                </a:lnTo>
                <a:close/>
              </a:path>
            </a:pathLst>
          </a:custGeom>
          <a:blipFill>
            <a:blip r:embed="rId4"/>
            <a:stretch>
              <a:fillRect/>
            </a:stretch>
          </a:blipFill>
        </p:spPr>
        <p:txBody>
          <a:bodyPr/>
          <a:lstStyle/>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477880" y="1371374"/>
            <a:ext cx="12444184" cy="914417"/>
          </a:xfrm>
          <a:prstGeom prst="rect">
            <a:avLst/>
          </a:prstGeom>
        </p:spPr>
        <p:txBody>
          <a:bodyPr lIns="0" tIns="0" rIns="0" bIns="0" rtlCol="0" anchor="t">
            <a:spAutoFit/>
          </a:bodyPr>
          <a:lstStyle/>
          <a:p>
            <a:pPr algn="ctr">
              <a:lnSpc>
                <a:spcPts val="7681"/>
              </a:lnSpc>
            </a:pPr>
            <a:r>
              <a:rPr lang="en-US" sz="5400" dirty="0">
                <a:latin typeface="Goudy Bold" panose="020B0604020202020204" charset="0"/>
              </a:rPr>
              <a:t>Impact and Benefits – </a:t>
            </a:r>
            <a:r>
              <a:rPr lang="en-US" sz="5400" dirty="0" err="1">
                <a:latin typeface="Goudy Bold" panose="020B0604020202020204" charset="0"/>
              </a:rPr>
              <a:t>NagarDrishti</a:t>
            </a:r>
            <a:r>
              <a:rPr lang="en-US" sz="5400" dirty="0">
                <a:latin typeface="Goudy Bold" panose="020B0604020202020204" charset="0"/>
              </a:rPr>
              <a:t> AI</a:t>
            </a:r>
            <a:endParaRPr lang="en-US" sz="5400" b="1" spc="-384" dirty="0">
              <a:solidFill>
                <a:srgbClr val="000000"/>
              </a:solidFill>
              <a:latin typeface="Goudy Bold" panose="020B0604020202020204" charset="0"/>
              <a:ea typeface="Goudy Bold"/>
              <a:cs typeface="Goudy Bold"/>
              <a:sym typeface="Goudy Bold"/>
            </a:endParaRPr>
          </a:p>
        </p:txBody>
      </p:sp>
      <p:grpSp>
        <p:nvGrpSpPr>
          <p:cNvPr id="3" name="Group 3"/>
          <p:cNvGrpSpPr/>
          <p:nvPr/>
        </p:nvGrpSpPr>
        <p:grpSpPr>
          <a:xfrm>
            <a:off x="15652205" y="9565386"/>
            <a:ext cx="2407958" cy="661283"/>
            <a:chOff x="0" y="0"/>
            <a:chExt cx="634195" cy="174165"/>
          </a:xfrm>
        </p:grpSpPr>
        <p:sp>
          <p:nvSpPr>
            <p:cNvPr id="4" name="Freeform 4"/>
            <p:cNvSpPr/>
            <p:nvPr/>
          </p:nvSpPr>
          <p:spPr>
            <a:xfrm>
              <a:off x="0" y="0"/>
              <a:ext cx="634195" cy="174165"/>
            </a:xfrm>
            <a:custGeom>
              <a:avLst/>
              <a:gdLst/>
              <a:ahLst/>
              <a:cxnLst/>
              <a:rect l="l" t="t" r="r" b="b"/>
              <a:pathLst>
                <a:path w="634195" h="174165">
                  <a:moveTo>
                    <a:pt x="87083" y="0"/>
                  </a:moveTo>
                  <a:lnTo>
                    <a:pt x="547112" y="0"/>
                  </a:lnTo>
                  <a:cubicBezTo>
                    <a:pt x="570208" y="0"/>
                    <a:pt x="592358" y="9175"/>
                    <a:pt x="608689" y="25506"/>
                  </a:cubicBezTo>
                  <a:cubicBezTo>
                    <a:pt x="625020" y="41837"/>
                    <a:pt x="634195" y="63987"/>
                    <a:pt x="634195" y="87083"/>
                  </a:cubicBezTo>
                  <a:lnTo>
                    <a:pt x="634195" y="87083"/>
                  </a:lnTo>
                  <a:cubicBezTo>
                    <a:pt x="634195" y="110178"/>
                    <a:pt x="625020" y="132328"/>
                    <a:pt x="608689" y="148659"/>
                  </a:cubicBezTo>
                  <a:cubicBezTo>
                    <a:pt x="592358" y="164990"/>
                    <a:pt x="570208" y="174165"/>
                    <a:pt x="547112" y="174165"/>
                  </a:cubicBezTo>
                  <a:lnTo>
                    <a:pt x="87083" y="174165"/>
                  </a:lnTo>
                  <a:cubicBezTo>
                    <a:pt x="63987" y="174165"/>
                    <a:pt x="41837" y="164990"/>
                    <a:pt x="25506" y="148659"/>
                  </a:cubicBezTo>
                  <a:cubicBezTo>
                    <a:pt x="9175" y="132328"/>
                    <a:pt x="0" y="110178"/>
                    <a:pt x="0" y="87083"/>
                  </a:cubicBezTo>
                  <a:lnTo>
                    <a:pt x="0" y="87083"/>
                  </a:lnTo>
                  <a:cubicBezTo>
                    <a:pt x="0" y="63987"/>
                    <a:pt x="9175" y="41837"/>
                    <a:pt x="25506" y="25506"/>
                  </a:cubicBezTo>
                  <a:cubicBezTo>
                    <a:pt x="41837" y="9175"/>
                    <a:pt x="63987" y="0"/>
                    <a:pt x="87083" y="0"/>
                  </a:cubicBezTo>
                  <a:close/>
                </a:path>
              </a:pathLst>
            </a:custGeom>
            <a:solidFill>
              <a:srgbClr val="98C4EC"/>
            </a:solidFill>
          </p:spPr>
        </p:sp>
        <p:sp>
          <p:nvSpPr>
            <p:cNvPr id="5" name="TextBox 5"/>
            <p:cNvSpPr txBox="1"/>
            <p:nvPr/>
          </p:nvSpPr>
          <p:spPr>
            <a:xfrm>
              <a:off x="0" y="-57150"/>
              <a:ext cx="634195" cy="231315"/>
            </a:xfrm>
            <a:prstGeom prst="rect">
              <a:avLst/>
            </a:prstGeom>
          </p:spPr>
          <p:txBody>
            <a:bodyPr lIns="50800" tIns="50800" rIns="50800" bIns="50800" rtlCol="0" anchor="ctr"/>
            <a:lstStyle/>
            <a:p>
              <a:pPr algn="ctr">
                <a:lnSpc>
                  <a:spcPts val="3919"/>
                </a:lnSpc>
              </a:pPr>
              <a:r>
                <a:rPr lang="en-US" sz="2799" b="1" dirty="0">
                  <a:solidFill>
                    <a:srgbClr val="FFFFFF"/>
                  </a:solidFill>
                  <a:latin typeface="Neue Montreal Bold"/>
                  <a:ea typeface="Neue Montreal Bold"/>
                  <a:cs typeface="Neue Montreal Bold"/>
                  <a:sym typeface="Neue Montreal Bold"/>
                </a:rPr>
                <a:t>GROUP-18</a:t>
              </a:r>
            </a:p>
          </p:txBody>
        </p:sp>
      </p:grpSp>
      <p:sp>
        <p:nvSpPr>
          <p:cNvPr id="8" name="Freeform 8"/>
          <p:cNvSpPr/>
          <p:nvPr/>
        </p:nvSpPr>
        <p:spPr>
          <a:xfrm>
            <a:off x="131324" y="9358753"/>
            <a:ext cx="2275834" cy="772925"/>
          </a:xfrm>
          <a:custGeom>
            <a:avLst/>
            <a:gdLst/>
            <a:ahLst/>
            <a:cxnLst/>
            <a:rect l="l" t="t" r="r" b="b"/>
            <a:pathLst>
              <a:path w="2275834" h="772925">
                <a:moveTo>
                  <a:pt x="0" y="0"/>
                </a:moveTo>
                <a:lnTo>
                  <a:pt x="2275834" y="0"/>
                </a:lnTo>
                <a:lnTo>
                  <a:pt x="2275834" y="772925"/>
                </a:lnTo>
                <a:lnTo>
                  <a:pt x="0" y="772925"/>
                </a:lnTo>
                <a:lnTo>
                  <a:pt x="0" y="0"/>
                </a:lnTo>
                <a:close/>
              </a:path>
            </a:pathLst>
          </a:custGeom>
          <a:blipFill>
            <a:blip r:embed="rId2"/>
            <a:stretch>
              <a:fillRect/>
            </a:stretch>
          </a:blipFill>
        </p:spPr>
      </p:sp>
      <p:sp>
        <p:nvSpPr>
          <p:cNvPr id="9" name="AutoShape 9"/>
          <p:cNvSpPr/>
          <p:nvPr/>
        </p:nvSpPr>
        <p:spPr>
          <a:xfrm>
            <a:off x="2930000" y="9696477"/>
            <a:ext cx="12198330" cy="0"/>
          </a:xfrm>
          <a:prstGeom prst="line">
            <a:avLst/>
          </a:prstGeom>
          <a:ln w="28575" cap="flat">
            <a:solidFill>
              <a:srgbClr val="AA1313"/>
            </a:solidFill>
            <a:prstDash val="solid"/>
            <a:headEnd type="none" w="sm" len="sm"/>
            <a:tailEnd type="none" w="sm" len="sm"/>
          </a:ln>
        </p:spPr>
      </p:sp>
      <p:sp>
        <p:nvSpPr>
          <p:cNvPr id="10" name="TextBox 10"/>
          <p:cNvSpPr txBox="1"/>
          <p:nvPr/>
        </p:nvSpPr>
        <p:spPr>
          <a:xfrm>
            <a:off x="1843642" y="9697590"/>
            <a:ext cx="9399570" cy="349250"/>
          </a:xfrm>
          <a:prstGeom prst="rect">
            <a:avLst/>
          </a:prstGeom>
        </p:spPr>
        <p:txBody>
          <a:bodyPr lIns="0" tIns="0" rIns="0" bIns="0" rtlCol="0" anchor="t">
            <a:spAutoFit/>
          </a:bodyPr>
          <a:lstStyle/>
          <a:p>
            <a:pPr algn="ctr">
              <a:lnSpc>
                <a:spcPts val="2800"/>
              </a:lnSpc>
            </a:pPr>
            <a:r>
              <a:rPr lang="en-US" sz="2000" b="1">
                <a:solidFill>
                  <a:srgbClr val="5C2D88"/>
                </a:solidFill>
                <a:latin typeface="Canva Sans Bold"/>
                <a:ea typeface="Canva Sans Bold"/>
                <a:cs typeface="Canva Sans Bold"/>
                <a:sym typeface="Canva Sans Bold"/>
              </a:rPr>
              <a:t>Nagpur | Pune | Jalgaon | Amravati | Pandhura | Bhandara</a:t>
            </a:r>
          </a:p>
        </p:txBody>
      </p:sp>
      <p:sp>
        <p:nvSpPr>
          <p:cNvPr id="11" name="TextBox 11"/>
          <p:cNvSpPr txBox="1"/>
          <p:nvPr/>
        </p:nvSpPr>
        <p:spPr>
          <a:xfrm>
            <a:off x="431631" y="3418488"/>
            <a:ext cx="17671256" cy="5416868"/>
          </a:xfrm>
          <a:prstGeom prst="rect">
            <a:avLst/>
          </a:prstGeom>
        </p:spPr>
        <p:txBody>
          <a:bodyPr lIns="0" tIns="0" rIns="0" bIns="0" rtlCol="0" anchor="t">
            <a:spAutoFit/>
          </a:bodyPr>
          <a:lstStyle/>
          <a:p>
            <a:r>
              <a:rPr lang="en-US" sz="4400" b="1" dirty="0"/>
              <a:t>Potential Impact</a:t>
            </a:r>
            <a:br>
              <a:rPr lang="en-US" sz="4400" dirty="0"/>
            </a:br>
            <a:r>
              <a:rPr lang="en-US" sz="4400" dirty="0"/>
              <a:t>• Helps city authorities monitor traffic, pollution, and resource usage in real time</a:t>
            </a:r>
            <a:br>
              <a:rPr lang="en-US" sz="4400" dirty="0"/>
            </a:br>
            <a:r>
              <a:rPr lang="en-US" sz="4400" dirty="0"/>
              <a:t>• Supports data-driven decisions for better urban planning</a:t>
            </a:r>
          </a:p>
          <a:p>
            <a:r>
              <a:rPr lang="en-US" sz="4400" b="1" dirty="0"/>
              <a:t>Benefits</a:t>
            </a:r>
            <a:br>
              <a:rPr lang="en-US" sz="4400" dirty="0"/>
            </a:br>
            <a:r>
              <a:rPr lang="en-US" sz="4400" dirty="0"/>
              <a:t>• </a:t>
            </a:r>
            <a:r>
              <a:rPr lang="en-US" sz="4400" b="1" dirty="0"/>
              <a:t>Social:</a:t>
            </a:r>
            <a:r>
              <a:rPr lang="en-US" sz="4400" dirty="0"/>
              <a:t> Improved public services and smarter city management</a:t>
            </a:r>
            <a:br>
              <a:rPr lang="en-US" sz="4400" dirty="0"/>
            </a:br>
            <a:r>
              <a:rPr lang="en-US" sz="4400" dirty="0"/>
              <a:t>• </a:t>
            </a:r>
            <a:r>
              <a:rPr lang="en-US" sz="4400" b="1" dirty="0"/>
              <a:t>Economic:</a:t>
            </a:r>
            <a:r>
              <a:rPr lang="en-US" sz="4400" dirty="0"/>
              <a:t> Efficient resource allocation and reduced operational costs</a:t>
            </a:r>
            <a:br>
              <a:rPr lang="en-US" sz="4400" dirty="0"/>
            </a:br>
            <a:r>
              <a:rPr lang="en-US" sz="4400" dirty="0"/>
              <a:t>• </a:t>
            </a:r>
            <a:r>
              <a:rPr lang="en-US" sz="4400" b="1" dirty="0"/>
              <a:t>Environmental:</a:t>
            </a:r>
            <a:r>
              <a:rPr lang="en-US" sz="4400" dirty="0"/>
              <a:t> Better monitoring of pollution, energy, and water usage</a:t>
            </a:r>
          </a:p>
        </p:txBody>
      </p:sp>
      <p:sp>
        <p:nvSpPr>
          <p:cNvPr id="12" name="Freeform 12"/>
          <p:cNvSpPr/>
          <p:nvPr/>
        </p:nvSpPr>
        <p:spPr>
          <a:xfrm>
            <a:off x="4288580" y="2071461"/>
            <a:ext cx="9228841" cy="6523595"/>
          </a:xfrm>
          <a:custGeom>
            <a:avLst/>
            <a:gdLst/>
            <a:ahLst/>
            <a:cxnLst/>
            <a:rect l="l" t="t" r="r" b="b"/>
            <a:pathLst>
              <a:path w="9228841" h="6523595">
                <a:moveTo>
                  <a:pt x="0" y="0"/>
                </a:moveTo>
                <a:lnTo>
                  <a:pt x="9228841" y="0"/>
                </a:lnTo>
                <a:lnTo>
                  <a:pt x="9228841" y="6523596"/>
                </a:lnTo>
                <a:lnTo>
                  <a:pt x="0" y="6523596"/>
                </a:lnTo>
                <a:lnTo>
                  <a:pt x="0" y="0"/>
                </a:lnTo>
                <a:close/>
              </a:path>
            </a:pathLst>
          </a:custGeom>
          <a:blipFill>
            <a:blip r:embed="rId3">
              <a:alphaModFix amt="9999"/>
            </a:blip>
            <a:stretch>
              <a:fillRect l="-3515" t="-23221" b="-23221"/>
            </a:stretch>
          </a:blipFill>
        </p:spPr>
      </p:sp>
      <p:sp>
        <p:nvSpPr>
          <p:cNvPr id="13" name="Freeform 6">
            <a:extLst>
              <a:ext uri="{FF2B5EF4-FFF2-40B4-BE49-F238E27FC236}">
                <a16:creationId xmlns:a16="http://schemas.microsoft.com/office/drawing/2014/main" id="{433FD921-87B2-8B9A-9993-4F40C68F3D26}"/>
              </a:ext>
            </a:extLst>
          </p:cNvPr>
          <p:cNvSpPr/>
          <p:nvPr/>
        </p:nvSpPr>
        <p:spPr>
          <a:xfrm>
            <a:off x="15457048" y="-279179"/>
            <a:ext cx="2603115" cy="2603115"/>
          </a:xfrm>
          <a:custGeom>
            <a:avLst/>
            <a:gdLst/>
            <a:ahLst/>
            <a:cxnLst/>
            <a:rect l="l" t="t" r="r" b="b"/>
            <a:pathLst>
              <a:path w="2603115" h="2603115">
                <a:moveTo>
                  <a:pt x="0" y="0"/>
                </a:moveTo>
                <a:lnTo>
                  <a:pt x="2603114" y="0"/>
                </a:lnTo>
                <a:lnTo>
                  <a:pt x="2603114" y="2603115"/>
                </a:lnTo>
                <a:lnTo>
                  <a:pt x="0" y="2603115"/>
                </a:lnTo>
                <a:lnTo>
                  <a:pt x="0" y="0"/>
                </a:lnTo>
                <a:close/>
              </a:path>
            </a:pathLst>
          </a:custGeom>
          <a:blipFill>
            <a:blip r:embed="rId3"/>
            <a:stretch>
              <a:fillRect/>
            </a:stretch>
          </a:blipFill>
        </p:spPr>
        <p:txBody>
          <a:bodyPr/>
          <a:lstStyle/>
          <a:p>
            <a:endParaRPr lang="en-US" dirty="0"/>
          </a:p>
        </p:txBody>
      </p:sp>
      <p:sp>
        <p:nvSpPr>
          <p:cNvPr id="14" name="Freeform 7">
            <a:extLst>
              <a:ext uri="{FF2B5EF4-FFF2-40B4-BE49-F238E27FC236}">
                <a16:creationId xmlns:a16="http://schemas.microsoft.com/office/drawing/2014/main" id="{46B4FF7E-B2C8-E73A-5451-5F1E2F833FD6}"/>
              </a:ext>
            </a:extLst>
          </p:cNvPr>
          <p:cNvSpPr/>
          <p:nvPr/>
        </p:nvSpPr>
        <p:spPr>
          <a:xfrm>
            <a:off x="685800" y="552285"/>
            <a:ext cx="3094349" cy="1450639"/>
          </a:xfrm>
          <a:custGeom>
            <a:avLst/>
            <a:gdLst/>
            <a:ahLst/>
            <a:cxnLst/>
            <a:rect l="l" t="t" r="r" b="b"/>
            <a:pathLst>
              <a:path w="3094349" h="1450639">
                <a:moveTo>
                  <a:pt x="0" y="0"/>
                </a:moveTo>
                <a:lnTo>
                  <a:pt x="3094349" y="0"/>
                </a:lnTo>
                <a:lnTo>
                  <a:pt x="3094349" y="1450639"/>
                </a:lnTo>
                <a:lnTo>
                  <a:pt x="0" y="1450639"/>
                </a:lnTo>
                <a:lnTo>
                  <a:pt x="0" y="0"/>
                </a:lnTo>
                <a:close/>
              </a:path>
            </a:pathLst>
          </a:custGeom>
          <a:blipFill>
            <a:blip r:embed="rId4"/>
            <a:stretch>
              <a:fillRect/>
            </a:stretch>
          </a:blipFill>
        </p:spPr>
        <p:txBody>
          <a:bodyPr/>
          <a:lstStyle/>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477880" y="1371374"/>
            <a:ext cx="12444184" cy="882229"/>
          </a:xfrm>
          <a:prstGeom prst="rect">
            <a:avLst/>
          </a:prstGeom>
        </p:spPr>
        <p:txBody>
          <a:bodyPr lIns="0" tIns="0" rIns="0" bIns="0" rtlCol="0" anchor="t">
            <a:spAutoFit/>
          </a:bodyPr>
          <a:lstStyle/>
          <a:p>
            <a:pPr algn="ctr">
              <a:lnSpc>
                <a:spcPts val="7681"/>
              </a:lnSpc>
            </a:pPr>
            <a:r>
              <a:rPr lang="en-US" sz="4400" b="1" spc="-384" dirty="0">
                <a:solidFill>
                  <a:srgbClr val="020202"/>
                </a:solidFill>
                <a:latin typeface="Goudy Bold"/>
                <a:ea typeface="Goudy Bold"/>
                <a:cs typeface="Goudy Bold"/>
                <a:sym typeface="Goudy Bold"/>
              </a:rPr>
              <a:t>RESEARCH AND REFERENCES </a:t>
            </a:r>
            <a:r>
              <a:rPr lang="en-US" sz="4400" dirty="0">
                <a:latin typeface="Goudy Bold" panose="020B0604020202020204" charset="0"/>
              </a:rPr>
              <a:t>– </a:t>
            </a:r>
            <a:r>
              <a:rPr lang="en-US" sz="4400" dirty="0" err="1">
                <a:latin typeface="Goudy Bold" panose="020B0604020202020204" charset="0"/>
              </a:rPr>
              <a:t>NagarDrishti</a:t>
            </a:r>
            <a:r>
              <a:rPr lang="en-US" sz="4400" dirty="0">
                <a:latin typeface="Goudy Bold" panose="020B0604020202020204" charset="0"/>
              </a:rPr>
              <a:t> AI</a:t>
            </a:r>
            <a:endParaRPr lang="en-US" sz="4400" b="1" spc="-384" dirty="0">
              <a:solidFill>
                <a:srgbClr val="020202"/>
              </a:solidFill>
              <a:latin typeface="Goudy Bold"/>
              <a:ea typeface="Goudy Bold"/>
              <a:cs typeface="Goudy Bold"/>
              <a:sym typeface="Goudy Bold"/>
            </a:endParaRPr>
          </a:p>
        </p:txBody>
      </p:sp>
      <p:grpSp>
        <p:nvGrpSpPr>
          <p:cNvPr id="3" name="Group 3"/>
          <p:cNvGrpSpPr/>
          <p:nvPr/>
        </p:nvGrpSpPr>
        <p:grpSpPr>
          <a:xfrm>
            <a:off x="15652205" y="9565386"/>
            <a:ext cx="2407958" cy="661283"/>
            <a:chOff x="0" y="0"/>
            <a:chExt cx="634195" cy="174165"/>
          </a:xfrm>
        </p:grpSpPr>
        <p:sp>
          <p:nvSpPr>
            <p:cNvPr id="4" name="Freeform 4"/>
            <p:cNvSpPr/>
            <p:nvPr/>
          </p:nvSpPr>
          <p:spPr>
            <a:xfrm>
              <a:off x="0" y="0"/>
              <a:ext cx="634195" cy="174165"/>
            </a:xfrm>
            <a:custGeom>
              <a:avLst/>
              <a:gdLst/>
              <a:ahLst/>
              <a:cxnLst/>
              <a:rect l="l" t="t" r="r" b="b"/>
              <a:pathLst>
                <a:path w="634195" h="174165">
                  <a:moveTo>
                    <a:pt x="87083" y="0"/>
                  </a:moveTo>
                  <a:lnTo>
                    <a:pt x="547112" y="0"/>
                  </a:lnTo>
                  <a:cubicBezTo>
                    <a:pt x="570208" y="0"/>
                    <a:pt x="592358" y="9175"/>
                    <a:pt x="608689" y="25506"/>
                  </a:cubicBezTo>
                  <a:cubicBezTo>
                    <a:pt x="625020" y="41837"/>
                    <a:pt x="634195" y="63987"/>
                    <a:pt x="634195" y="87083"/>
                  </a:cubicBezTo>
                  <a:lnTo>
                    <a:pt x="634195" y="87083"/>
                  </a:lnTo>
                  <a:cubicBezTo>
                    <a:pt x="634195" y="110178"/>
                    <a:pt x="625020" y="132328"/>
                    <a:pt x="608689" y="148659"/>
                  </a:cubicBezTo>
                  <a:cubicBezTo>
                    <a:pt x="592358" y="164990"/>
                    <a:pt x="570208" y="174165"/>
                    <a:pt x="547112" y="174165"/>
                  </a:cubicBezTo>
                  <a:lnTo>
                    <a:pt x="87083" y="174165"/>
                  </a:lnTo>
                  <a:cubicBezTo>
                    <a:pt x="63987" y="174165"/>
                    <a:pt x="41837" y="164990"/>
                    <a:pt x="25506" y="148659"/>
                  </a:cubicBezTo>
                  <a:cubicBezTo>
                    <a:pt x="9175" y="132328"/>
                    <a:pt x="0" y="110178"/>
                    <a:pt x="0" y="87083"/>
                  </a:cubicBezTo>
                  <a:lnTo>
                    <a:pt x="0" y="87083"/>
                  </a:lnTo>
                  <a:cubicBezTo>
                    <a:pt x="0" y="63987"/>
                    <a:pt x="9175" y="41837"/>
                    <a:pt x="25506" y="25506"/>
                  </a:cubicBezTo>
                  <a:cubicBezTo>
                    <a:pt x="41837" y="9175"/>
                    <a:pt x="63987" y="0"/>
                    <a:pt x="87083" y="0"/>
                  </a:cubicBezTo>
                  <a:close/>
                </a:path>
              </a:pathLst>
            </a:custGeom>
            <a:solidFill>
              <a:srgbClr val="98C4EC"/>
            </a:solidFill>
          </p:spPr>
        </p:sp>
        <p:sp>
          <p:nvSpPr>
            <p:cNvPr id="5" name="TextBox 5"/>
            <p:cNvSpPr txBox="1"/>
            <p:nvPr/>
          </p:nvSpPr>
          <p:spPr>
            <a:xfrm>
              <a:off x="0" y="-57150"/>
              <a:ext cx="634195" cy="231315"/>
            </a:xfrm>
            <a:prstGeom prst="rect">
              <a:avLst/>
            </a:prstGeom>
          </p:spPr>
          <p:txBody>
            <a:bodyPr lIns="50800" tIns="50800" rIns="50800" bIns="50800" rtlCol="0" anchor="ctr"/>
            <a:lstStyle/>
            <a:p>
              <a:pPr algn="ctr">
                <a:lnSpc>
                  <a:spcPts val="3919"/>
                </a:lnSpc>
              </a:pPr>
              <a:r>
                <a:rPr lang="en-US" sz="2799" b="1" dirty="0">
                  <a:solidFill>
                    <a:srgbClr val="FFFFFF"/>
                  </a:solidFill>
                  <a:latin typeface="Neue Montreal Bold"/>
                  <a:ea typeface="Neue Montreal Bold"/>
                  <a:cs typeface="Neue Montreal Bold"/>
                  <a:sym typeface="Neue Montreal Bold"/>
                </a:rPr>
                <a:t>GROUP-18</a:t>
              </a:r>
            </a:p>
          </p:txBody>
        </p:sp>
      </p:grpSp>
      <p:sp>
        <p:nvSpPr>
          <p:cNvPr id="8" name="Freeform 8"/>
          <p:cNvSpPr/>
          <p:nvPr/>
        </p:nvSpPr>
        <p:spPr>
          <a:xfrm>
            <a:off x="131324" y="9358753"/>
            <a:ext cx="2275834" cy="772925"/>
          </a:xfrm>
          <a:custGeom>
            <a:avLst/>
            <a:gdLst/>
            <a:ahLst/>
            <a:cxnLst/>
            <a:rect l="l" t="t" r="r" b="b"/>
            <a:pathLst>
              <a:path w="2275834" h="772925">
                <a:moveTo>
                  <a:pt x="0" y="0"/>
                </a:moveTo>
                <a:lnTo>
                  <a:pt x="2275834" y="0"/>
                </a:lnTo>
                <a:lnTo>
                  <a:pt x="2275834" y="772925"/>
                </a:lnTo>
                <a:lnTo>
                  <a:pt x="0" y="772925"/>
                </a:lnTo>
                <a:lnTo>
                  <a:pt x="0" y="0"/>
                </a:lnTo>
                <a:close/>
              </a:path>
            </a:pathLst>
          </a:custGeom>
          <a:blipFill>
            <a:blip r:embed="rId2"/>
            <a:stretch>
              <a:fillRect/>
            </a:stretch>
          </a:blipFill>
        </p:spPr>
      </p:sp>
      <p:sp>
        <p:nvSpPr>
          <p:cNvPr id="9" name="AutoShape 9"/>
          <p:cNvSpPr/>
          <p:nvPr/>
        </p:nvSpPr>
        <p:spPr>
          <a:xfrm>
            <a:off x="2930000" y="9696477"/>
            <a:ext cx="12198330" cy="0"/>
          </a:xfrm>
          <a:prstGeom prst="line">
            <a:avLst/>
          </a:prstGeom>
          <a:ln w="28575" cap="flat">
            <a:solidFill>
              <a:srgbClr val="AA1313"/>
            </a:solidFill>
            <a:prstDash val="solid"/>
            <a:headEnd type="none" w="sm" len="sm"/>
            <a:tailEnd type="none" w="sm" len="sm"/>
          </a:ln>
        </p:spPr>
      </p:sp>
      <p:sp>
        <p:nvSpPr>
          <p:cNvPr id="10" name="TextBox 10"/>
          <p:cNvSpPr txBox="1"/>
          <p:nvPr/>
        </p:nvSpPr>
        <p:spPr>
          <a:xfrm>
            <a:off x="1843642" y="9697590"/>
            <a:ext cx="9399570" cy="349250"/>
          </a:xfrm>
          <a:prstGeom prst="rect">
            <a:avLst/>
          </a:prstGeom>
        </p:spPr>
        <p:txBody>
          <a:bodyPr lIns="0" tIns="0" rIns="0" bIns="0" rtlCol="0" anchor="t">
            <a:spAutoFit/>
          </a:bodyPr>
          <a:lstStyle/>
          <a:p>
            <a:pPr algn="ctr">
              <a:lnSpc>
                <a:spcPts val="2800"/>
              </a:lnSpc>
            </a:pPr>
            <a:r>
              <a:rPr lang="en-US" sz="2000" b="1">
                <a:solidFill>
                  <a:srgbClr val="5C2D88"/>
                </a:solidFill>
                <a:latin typeface="Canva Sans Bold"/>
                <a:ea typeface="Canva Sans Bold"/>
                <a:cs typeface="Canva Sans Bold"/>
                <a:sym typeface="Canva Sans Bold"/>
              </a:rPr>
              <a:t>Nagpur | Pune | Jalgaon | Amravati | Pandhura | Bhandara</a:t>
            </a:r>
          </a:p>
        </p:txBody>
      </p:sp>
      <p:sp>
        <p:nvSpPr>
          <p:cNvPr id="11" name="TextBox 11"/>
          <p:cNvSpPr txBox="1"/>
          <p:nvPr/>
        </p:nvSpPr>
        <p:spPr>
          <a:xfrm>
            <a:off x="1131328" y="2640577"/>
            <a:ext cx="14297145" cy="7505388"/>
          </a:xfrm>
          <a:prstGeom prst="rect">
            <a:avLst/>
          </a:prstGeom>
        </p:spPr>
        <p:txBody>
          <a:bodyPr lIns="0" tIns="0" rIns="0" bIns="0" rtlCol="0" anchor="t">
            <a:spAutoFit/>
          </a:bodyPr>
          <a:lstStyle/>
          <a:p>
            <a:r>
              <a:rPr lang="en-US" sz="3600" b="1" dirty="0"/>
              <a:t>References / Research Work</a:t>
            </a:r>
          </a:p>
          <a:p>
            <a:r>
              <a:rPr lang="en-US" sz="3600" dirty="0"/>
              <a:t>• Research on </a:t>
            </a:r>
            <a:r>
              <a:rPr lang="en-US" sz="3600" b="1" dirty="0"/>
              <a:t>Big Data Analytics for Smart Cities</a:t>
            </a:r>
            <a:r>
              <a:rPr lang="en-US" sz="3600" dirty="0"/>
              <a:t> – shows how real-time data from sensors and GPS can improve traffic management and reduce congestion. </a:t>
            </a:r>
          </a:p>
          <a:p>
            <a:r>
              <a:rPr lang="en-US" sz="3600" dirty="0"/>
              <a:t>• Studies on </a:t>
            </a:r>
            <a:r>
              <a:rPr lang="en-US" sz="3600" b="1" dirty="0"/>
              <a:t>IoT-based Smart City Systems</a:t>
            </a:r>
            <a:r>
              <a:rPr lang="en-US" sz="3600" dirty="0"/>
              <a:t> – explain how sensors collect data on air quality, traffic flow, water usage, and energy consumption for urban analytics. </a:t>
            </a:r>
          </a:p>
          <a:p>
            <a:r>
              <a:rPr lang="en-US" sz="3600" dirty="0"/>
              <a:t>• Research on </a:t>
            </a:r>
            <a:r>
              <a:rPr lang="en-US" sz="3600" b="1" dirty="0"/>
              <a:t>IoT and Data-Driven Urban Planning</a:t>
            </a:r>
            <a:r>
              <a:rPr lang="en-US" sz="3600" dirty="0"/>
              <a:t> – highlights how integrating IoT monitoring improves resource management and sustainable city development. </a:t>
            </a:r>
          </a:p>
          <a:p>
            <a:r>
              <a:rPr lang="en-US" sz="3600" dirty="0"/>
              <a:t>• Smart city architecture research combining </a:t>
            </a:r>
            <a:r>
              <a:rPr lang="en-US" sz="3600" b="1" dirty="0"/>
              <a:t>IoT, Big Data, and communication technologies</a:t>
            </a:r>
            <a:r>
              <a:rPr lang="en-US" sz="3600" dirty="0"/>
              <a:t> for intelligent urban planning. </a:t>
            </a:r>
          </a:p>
          <a:p>
            <a:pPr algn="l">
              <a:lnSpc>
                <a:spcPts val="6440"/>
              </a:lnSpc>
            </a:pPr>
            <a:endParaRPr lang="en-US" sz="7200" dirty="0">
              <a:solidFill>
                <a:srgbClr val="000000"/>
              </a:solidFill>
              <a:latin typeface="DM Sans"/>
              <a:ea typeface="DM Sans"/>
              <a:cs typeface="DM Sans"/>
              <a:sym typeface="DM Sans"/>
            </a:endParaRPr>
          </a:p>
        </p:txBody>
      </p:sp>
      <p:sp>
        <p:nvSpPr>
          <p:cNvPr id="12" name="Freeform 12"/>
          <p:cNvSpPr/>
          <p:nvPr/>
        </p:nvSpPr>
        <p:spPr>
          <a:xfrm>
            <a:off x="4288580" y="2071461"/>
            <a:ext cx="9228841" cy="6523595"/>
          </a:xfrm>
          <a:custGeom>
            <a:avLst/>
            <a:gdLst/>
            <a:ahLst/>
            <a:cxnLst/>
            <a:rect l="l" t="t" r="r" b="b"/>
            <a:pathLst>
              <a:path w="9228841" h="6523595">
                <a:moveTo>
                  <a:pt x="0" y="0"/>
                </a:moveTo>
                <a:lnTo>
                  <a:pt x="9228841" y="0"/>
                </a:lnTo>
                <a:lnTo>
                  <a:pt x="9228841" y="6523596"/>
                </a:lnTo>
                <a:lnTo>
                  <a:pt x="0" y="6523596"/>
                </a:lnTo>
                <a:lnTo>
                  <a:pt x="0" y="0"/>
                </a:lnTo>
                <a:close/>
              </a:path>
            </a:pathLst>
          </a:custGeom>
          <a:blipFill>
            <a:blip r:embed="rId3">
              <a:alphaModFix amt="9999"/>
            </a:blip>
            <a:stretch>
              <a:fillRect l="-3515" t="-23221" b="-23221"/>
            </a:stretch>
          </a:blipFill>
        </p:spPr>
      </p:sp>
      <p:sp>
        <p:nvSpPr>
          <p:cNvPr id="13" name="Freeform 6">
            <a:extLst>
              <a:ext uri="{FF2B5EF4-FFF2-40B4-BE49-F238E27FC236}">
                <a16:creationId xmlns:a16="http://schemas.microsoft.com/office/drawing/2014/main" id="{53D9FBD5-CA87-7A84-7DFB-051501905E90}"/>
              </a:ext>
            </a:extLst>
          </p:cNvPr>
          <p:cNvSpPr/>
          <p:nvPr/>
        </p:nvSpPr>
        <p:spPr>
          <a:xfrm>
            <a:off x="15457048" y="-279179"/>
            <a:ext cx="2603115" cy="2603115"/>
          </a:xfrm>
          <a:custGeom>
            <a:avLst/>
            <a:gdLst/>
            <a:ahLst/>
            <a:cxnLst/>
            <a:rect l="l" t="t" r="r" b="b"/>
            <a:pathLst>
              <a:path w="2603115" h="2603115">
                <a:moveTo>
                  <a:pt x="0" y="0"/>
                </a:moveTo>
                <a:lnTo>
                  <a:pt x="2603114" y="0"/>
                </a:lnTo>
                <a:lnTo>
                  <a:pt x="2603114" y="2603115"/>
                </a:lnTo>
                <a:lnTo>
                  <a:pt x="0" y="2603115"/>
                </a:lnTo>
                <a:lnTo>
                  <a:pt x="0" y="0"/>
                </a:lnTo>
                <a:close/>
              </a:path>
            </a:pathLst>
          </a:custGeom>
          <a:blipFill>
            <a:blip r:embed="rId3"/>
            <a:stretch>
              <a:fillRect/>
            </a:stretch>
          </a:blipFill>
        </p:spPr>
        <p:txBody>
          <a:bodyPr/>
          <a:lstStyle/>
          <a:p>
            <a:endParaRPr lang="en-US" dirty="0"/>
          </a:p>
        </p:txBody>
      </p:sp>
      <p:sp>
        <p:nvSpPr>
          <p:cNvPr id="14" name="Freeform 7">
            <a:extLst>
              <a:ext uri="{FF2B5EF4-FFF2-40B4-BE49-F238E27FC236}">
                <a16:creationId xmlns:a16="http://schemas.microsoft.com/office/drawing/2014/main" id="{57A1044B-3E2F-99DD-EC48-178A5C35981E}"/>
              </a:ext>
            </a:extLst>
          </p:cNvPr>
          <p:cNvSpPr/>
          <p:nvPr/>
        </p:nvSpPr>
        <p:spPr>
          <a:xfrm>
            <a:off x="685800" y="552285"/>
            <a:ext cx="3094349" cy="1450639"/>
          </a:xfrm>
          <a:custGeom>
            <a:avLst/>
            <a:gdLst/>
            <a:ahLst/>
            <a:cxnLst/>
            <a:rect l="l" t="t" r="r" b="b"/>
            <a:pathLst>
              <a:path w="3094349" h="1450639">
                <a:moveTo>
                  <a:pt x="0" y="0"/>
                </a:moveTo>
                <a:lnTo>
                  <a:pt x="3094349" y="0"/>
                </a:lnTo>
                <a:lnTo>
                  <a:pt x="3094349" y="1450639"/>
                </a:lnTo>
                <a:lnTo>
                  <a:pt x="0" y="1450639"/>
                </a:lnTo>
                <a:lnTo>
                  <a:pt x="0" y="0"/>
                </a:lnTo>
                <a:close/>
              </a:path>
            </a:pathLst>
          </a:custGeom>
          <a:blipFill>
            <a:blip r:embed="rId4"/>
            <a:stretch>
              <a:fillRect/>
            </a:stretch>
          </a:blipFill>
        </p:spPr>
        <p:txBody>
          <a:bodyPr/>
          <a:lstStyle/>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52205" y="9565386"/>
            <a:ext cx="2407958" cy="661283"/>
            <a:chOff x="0" y="0"/>
            <a:chExt cx="634195" cy="174165"/>
          </a:xfrm>
        </p:grpSpPr>
        <p:sp>
          <p:nvSpPr>
            <p:cNvPr id="3" name="Freeform 3"/>
            <p:cNvSpPr/>
            <p:nvPr/>
          </p:nvSpPr>
          <p:spPr>
            <a:xfrm>
              <a:off x="0" y="0"/>
              <a:ext cx="634195" cy="174165"/>
            </a:xfrm>
            <a:custGeom>
              <a:avLst/>
              <a:gdLst/>
              <a:ahLst/>
              <a:cxnLst/>
              <a:rect l="l" t="t" r="r" b="b"/>
              <a:pathLst>
                <a:path w="634195" h="174165">
                  <a:moveTo>
                    <a:pt x="87083" y="0"/>
                  </a:moveTo>
                  <a:lnTo>
                    <a:pt x="547112" y="0"/>
                  </a:lnTo>
                  <a:cubicBezTo>
                    <a:pt x="570208" y="0"/>
                    <a:pt x="592358" y="9175"/>
                    <a:pt x="608689" y="25506"/>
                  </a:cubicBezTo>
                  <a:cubicBezTo>
                    <a:pt x="625020" y="41837"/>
                    <a:pt x="634195" y="63987"/>
                    <a:pt x="634195" y="87083"/>
                  </a:cubicBezTo>
                  <a:lnTo>
                    <a:pt x="634195" y="87083"/>
                  </a:lnTo>
                  <a:cubicBezTo>
                    <a:pt x="634195" y="110178"/>
                    <a:pt x="625020" y="132328"/>
                    <a:pt x="608689" y="148659"/>
                  </a:cubicBezTo>
                  <a:cubicBezTo>
                    <a:pt x="592358" y="164990"/>
                    <a:pt x="570208" y="174165"/>
                    <a:pt x="547112" y="174165"/>
                  </a:cubicBezTo>
                  <a:lnTo>
                    <a:pt x="87083" y="174165"/>
                  </a:lnTo>
                  <a:cubicBezTo>
                    <a:pt x="63987" y="174165"/>
                    <a:pt x="41837" y="164990"/>
                    <a:pt x="25506" y="148659"/>
                  </a:cubicBezTo>
                  <a:cubicBezTo>
                    <a:pt x="9175" y="132328"/>
                    <a:pt x="0" y="110178"/>
                    <a:pt x="0" y="87083"/>
                  </a:cubicBezTo>
                  <a:lnTo>
                    <a:pt x="0" y="87083"/>
                  </a:lnTo>
                  <a:cubicBezTo>
                    <a:pt x="0" y="63987"/>
                    <a:pt x="9175" y="41837"/>
                    <a:pt x="25506" y="25506"/>
                  </a:cubicBezTo>
                  <a:cubicBezTo>
                    <a:pt x="41837" y="9175"/>
                    <a:pt x="63987" y="0"/>
                    <a:pt x="87083" y="0"/>
                  </a:cubicBezTo>
                  <a:close/>
                </a:path>
              </a:pathLst>
            </a:custGeom>
            <a:solidFill>
              <a:srgbClr val="98C4EC"/>
            </a:solidFill>
          </p:spPr>
        </p:sp>
        <p:sp>
          <p:nvSpPr>
            <p:cNvPr id="4" name="TextBox 4"/>
            <p:cNvSpPr txBox="1"/>
            <p:nvPr/>
          </p:nvSpPr>
          <p:spPr>
            <a:xfrm>
              <a:off x="0" y="-57150"/>
              <a:ext cx="634195" cy="231315"/>
            </a:xfrm>
            <a:prstGeom prst="rect">
              <a:avLst/>
            </a:prstGeom>
          </p:spPr>
          <p:txBody>
            <a:bodyPr lIns="50800" tIns="50800" rIns="50800" bIns="50800" rtlCol="0" anchor="ctr"/>
            <a:lstStyle/>
            <a:p>
              <a:pPr algn="ctr">
                <a:lnSpc>
                  <a:spcPts val="3919"/>
                </a:lnSpc>
              </a:pPr>
              <a:r>
                <a:rPr lang="en-US" sz="2799" b="1" dirty="0">
                  <a:solidFill>
                    <a:srgbClr val="FFFFFF"/>
                  </a:solidFill>
                  <a:latin typeface="Neue Montreal Bold"/>
                  <a:ea typeface="Neue Montreal Bold"/>
                  <a:cs typeface="Neue Montreal Bold"/>
                  <a:sym typeface="Neue Montreal Bold"/>
                </a:rPr>
                <a:t>GROUP-18</a:t>
              </a:r>
            </a:p>
          </p:txBody>
        </p:sp>
      </p:grpSp>
      <p:sp>
        <p:nvSpPr>
          <p:cNvPr id="7" name="Freeform 7"/>
          <p:cNvSpPr/>
          <p:nvPr/>
        </p:nvSpPr>
        <p:spPr>
          <a:xfrm>
            <a:off x="131324" y="9358753"/>
            <a:ext cx="2275834" cy="772925"/>
          </a:xfrm>
          <a:custGeom>
            <a:avLst/>
            <a:gdLst/>
            <a:ahLst/>
            <a:cxnLst/>
            <a:rect l="l" t="t" r="r" b="b"/>
            <a:pathLst>
              <a:path w="2275834" h="772925">
                <a:moveTo>
                  <a:pt x="0" y="0"/>
                </a:moveTo>
                <a:lnTo>
                  <a:pt x="2275834" y="0"/>
                </a:lnTo>
                <a:lnTo>
                  <a:pt x="2275834" y="772925"/>
                </a:lnTo>
                <a:lnTo>
                  <a:pt x="0" y="772925"/>
                </a:lnTo>
                <a:lnTo>
                  <a:pt x="0" y="0"/>
                </a:lnTo>
                <a:close/>
              </a:path>
            </a:pathLst>
          </a:custGeom>
          <a:blipFill>
            <a:blip r:embed="rId2"/>
            <a:stretch>
              <a:fillRect/>
            </a:stretch>
          </a:blipFill>
        </p:spPr>
      </p:sp>
      <p:sp>
        <p:nvSpPr>
          <p:cNvPr id="8" name="AutoShape 8"/>
          <p:cNvSpPr/>
          <p:nvPr/>
        </p:nvSpPr>
        <p:spPr>
          <a:xfrm>
            <a:off x="2930000" y="9696477"/>
            <a:ext cx="12198330" cy="0"/>
          </a:xfrm>
          <a:prstGeom prst="line">
            <a:avLst/>
          </a:prstGeom>
          <a:ln w="28575" cap="flat">
            <a:solidFill>
              <a:srgbClr val="AA1313"/>
            </a:solidFill>
            <a:prstDash val="solid"/>
            <a:headEnd type="none" w="sm" len="sm"/>
            <a:tailEnd type="none" w="sm" len="sm"/>
          </a:ln>
        </p:spPr>
      </p:sp>
      <p:sp>
        <p:nvSpPr>
          <p:cNvPr id="9" name="TextBox 9"/>
          <p:cNvSpPr txBox="1"/>
          <p:nvPr/>
        </p:nvSpPr>
        <p:spPr>
          <a:xfrm>
            <a:off x="131324" y="3450930"/>
            <a:ext cx="17259300" cy="4465966"/>
          </a:xfrm>
          <a:prstGeom prst="rect">
            <a:avLst/>
          </a:prstGeom>
        </p:spPr>
        <p:txBody>
          <a:bodyPr lIns="0" tIns="0" rIns="0" bIns="0" rtlCol="0" anchor="t">
            <a:spAutoFit/>
          </a:bodyPr>
          <a:lstStyle/>
          <a:p>
            <a:pPr marL="547752" lvl="1" indent="-273876" algn="just">
              <a:lnSpc>
                <a:spcPts val="4414"/>
              </a:lnSpc>
              <a:buAutoNum type="arabicPeriod"/>
            </a:pPr>
            <a:r>
              <a:rPr lang="en-US" sz="2537" spc="398" dirty="0">
                <a:solidFill>
                  <a:srgbClr val="000000"/>
                </a:solidFill>
                <a:latin typeface="DM Sans"/>
                <a:ea typeface="DM Sans"/>
                <a:cs typeface="DM Sans"/>
                <a:sym typeface="DM Sans"/>
              </a:rPr>
              <a:t>Kindly keep the maximum slides limit up to six (</a:t>
            </a:r>
            <a:r>
              <a:rPr lang="en-US" sz="2537" spc="398" dirty="0">
                <a:solidFill>
                  <a:srgbClr val="AA1313"/>
                </a:solidFill>
                <a:latin typeface="DM Sans"/>
                <a:ea typeface="DM Sans"/>
                <a:cs typeface="DM Sans"/>
                <a:sym typeface="DM Sans"/>
              </a:rPr>
              <a:t>6</a:t>
            </a:r>
            <a:r>
              <a:rPr lang="en-US" sz="2537" spc="398" dirty="0">
                <a:solidFill>
                  <a:srgbClr val="000000"/>
                </a:solidFill>
                <a:latin typeface="DM Sans"/>
                <a:ea typeface="DM Sans"/>
                <a:cs typeface="DM Sans"/>
                <a:sym typeface="DM Sans"/>
              </a:rPr>
              <a:t>). ( Including the title slide) </a:t>
            </a:r>
          </a:p>
          <a:p>
            <a:pPr marL="547752" lvl="1" indent="-273876" algn="just">
              <a:lnSpc>
                <a:spcPts val="4414"/>
              </a:lnSpc>
              <a:buAutoNum type="arabicPeriod"/>
            </a:pPr>
            <a:r>
              <a:rPr lang="en-US" sz="2537" spc="398" dirty="0">
                <a:solidFill>
                  <a:srgbClr val="000000"/>
                </a:solidFill>
                <a:latin typeface="DM Sans"/>
                <a:ea typeface="DM Sans"/>
                <a:cs typeface="DM Sans"/>
                <a:sym typeface="DM Sans"/>
              </a:rPr>
              <a:t>Try to avoid paragraphs and post your idea in points /diagrams / Infographics /pictures </a:t>
            </a:r>
          </a:p>
          <a:p>
            <a:pPr marL="547752" lvl="1" indent="-273876" algn="just">
              <a:lnSpc>
                <a:spcPts val="4414"/>
              </a:lnSpc>
              <a:buAutoNum type="arabicPeriod"/>
            </a:pPr>
            <a:r>
              <a:rPr lang="en-US" sz="2537" spc="398" dirty="0">
                <a:solidFill>
                  <a:srgbClr val="000000"/>
                </a:solidFill>
                <a:latin typeface="DM Sans"/>
                <a:ea typeface="DM Sans"/>
                <a:cs typeface="DM Sans"/>
                <a:sym typeface="DM Sans"/>
              </a:rPr>
              <a:t>Keep your explanation precise and easy to understand</a:t>
            </a:r>
          </a:p>
          <a:p>
            <a:pPr marL="547752" lvl="1" indent="-273876" algn="just">
              <a:lnSpc>
                <a:spcPts val="4414"/>
              </a:lnSpc>
              <a:buAutoNum type="arabicPeriod"/>
            </a:pPr>
            <a:r>
              <a:rPr lang="en-US" sz="2537" spc="398" dirty="0">
                <a:solidFill>
                  <a:srgbClr val="000000"/>
                </a:solidFill>
                <a:latin typeface="DM Sans"/>
                <a:ea typeface="DM Sans"/>
                <a:cs typeface="DM Sans"/>
                <a:sym typeface="DM Sans"/>
              </a:rPr>
              <a:t>You can only use provided template for making the PPT without changing the idea details pointers (mentioned in previous slides).</a:t>
            </a:r>
          </a:p>
          <a:p>
            <a:pPr marL="547752" lvl="1" indent="-273876" algn="just">
              <a:lnSpc>
                <a:spcPts val="4414"/>
              </a:lnSpc>
              <a:buAutoNum type="arabicPeriod"/>
            </a:pPr>
            <a:r>
              <a:rPr lang="en-US" sz="2537" spc="398" dirty="0">
                <a:solidFill>
                  <a:srgbClr val="000000"/>
                </a:solidFill>
                <a:latin typeface="DM Sans"/>
                <a:ea typeface="DM Sans"/>
                <a:cs typeface="DM Sans"/>
                <a:sym typeface="DM Sans"/>
              </a:rPr>
              <a:t>You need to save the file in PDF and upload the same on portal. No PPT, Word Doc or any other format will be supported.</a:t>
            </a:r>
          </a:p>
        </p:txBody>
      </p:sp>
      <p:sp>
        <p:nvSpPr>
          <p:cNvPr id="10" name="TextBox 10"/>
          <p:cNvSpPr txBox="1"/>
          <p:nvPr/>
        </p:nvSpPr>
        <p:spPr>
          <a:xfrm>
            <a:off x="3513559" y="1265421"/>
            <a:ext cx="12444184" cy="2066925"/>
          </a:xfrm>
          <a:prstGeom prst="rect">
            <a:avLst/>
          </a:prstGeom>
        </p:spPr>
        <p:txBody>
          <a:bodyPr lIns="0" tIns="0" rIns="0" bIns="0" rtlCol="0" anchor="t">
            <a:spAutoFit/>
          </a:bodyPr>
          <a:lstStyle/>
          <a:p>
            <a:pPr algn="just">
              <a:lnSpc>
                <a:spcPts val="7681"/>
              </a:lnSpc>
            </a:pPr>
            <a:r>
              <a:rPr lang="en-US" sz="6400" b="1" spc="-384">
                <a:solidFill>
                  <a:srgbClr val="020202"/>
                </a:solidFill>
                <a:latin typeface="Goudy Bold"/>
                <a:ea typeface="Goudy Bold"/>
                <a:cs typeface="Goudy Bold"/>
                <a:sym typeface="Goudy Bold"/>
              </a:rPr>
              <a:t>IMPORTANT INSTRUCTIONS</a:t>
            </a:r>
          </a:p>
          <a:p>
            <a:pPr algn="just">
              <a:lnSpc>
                <a:spcPts val="7681"/>
              </a:lnSpc>
            </a:pPr>
            <a:endParaRPr lang="en-US" sz="6400" b="1" spc="-384">
              <a:solidFill>
                <a:srgbClr val="020202"/>
              </a:solidFill>
              <a:latin typeface="Goudy Bold"/>
              <a:ea typeface="Goudy Bold"/>
              <a:cs typeface="Goudy Bold"/>
              <a:sym typeface="Goudy Bold"/>
            </a:endParaRPr>
          </a:p>
        </p:txBody>
      </p:sp>
      <p:sp>
        <p:nvSpPr>
          <p:cNvPr id="11" name="TextBox 11"/>
          <p:cNvSpPr txBox="1"/>
          <p:nvPr/>
        </p:nvSpPr>
        <p:spPr>
          <a:xfrm>
            <a:off x="1843642" y="9697590"/>
            <a:ext cx="9399570" cy="349250"/>
          </a:xfrm>
          <a:prstGeom prst="rect">
            <a:avLst/>
          </a:prstGeom>
        </p:spPr>
        <p:txBody>
          <a:bodyPr lIns="0" tIns="0" rIns="0" bIns="0" rtlCol="0" anchor="t">
            <a:spAutoFit/>
          </a:bodyPr>
          <a:lstStyle/>
          <a:p>
            <a:pPr algn="ctr">
              <a:lnSpc>
                <a:spcPts val="2800"/>
              </a:lnSpc>
            </a:pPr>
            <a:r>
              <a:rPr lang="en-US" sz="2000" b="1">
                <a:solidFill>
                  <a:srgbClr val="5C2D88"/>
                </a:solidFill>
                <a:latin typeface="Canva Sans Bold"/>
                <a:ea typeface="Canva Sans Bold"/>
                <a:cs typeface="Canva Sans Bold"/>
                <a:sym typeface="Canva Sans Bold"/>
              </a:rPr>
              <a:t>Nagpur | Pune | Jalgaon | Amravati | Pandhura | Bhandara</a:t>
            </a:r>
          </a:p>
        </p:txBody>
      </p:sp>
      <p:sp>
        <p:nvSpPr>
          <p:cNvPr id="12" name="TextBox 12"/>
          <p:cNvSpPr txBox="1"/>
          <p:nvPr/>
        </p:nvSpPr>
        <p:spPr>
          <a:xfrm>
            <a:off x="389939" y="2480324"/>
            <a:ext cx="15262265" cy="629919"/>
          </a:xfrm>
          <a:prstGeom prst="rect">
            <a:avLst/>
          </a:prstGeom>
        </p:spPr>
        <p:txBody>
          <a:bodyPr wrap="square" lIns="0" tIns="0" rIns="0" bIns="0" rtlCol="0" anchor="t">
            <a:spAutoFit/>
          </a:bodyPr>
          <a:lstStyle/>
          <a:p>
            <a:pPr algn="l">
              <a:lnSpc>
                <a:spcPts val="5180"/>
              </a:lnSpc>
            </a:pPr>
            <a:r>
              <a:rPr lang="en-US" sz="3700" dirty="0">
                <a:solidFill>
                  <a:srgbClr val="AA1313"/>
                </a:solidFill>
                <a:latin typeface="DM Sans"/>
                <a:ea typeface="DM Sans"/>
                <a:cs typeface="DM Sans"/>
                <a:sym typeface="DM Sans"/>
              </a:rPr>
              <a:t>Please ensure below pointers are met while submitting the Idea PPT</a:t>
            </a:r>
            <a:r>
              <a:rPr lang="en-US" sz="3700" dirty="0">
                <a:solidFill>
                  <a:srgbClr val="000000"/>
                </a:solidFill>
                <a:latin typeface="DM Sans"/>
                <a:ea typeface="DM Sans"/>
                <a:cs typeface="DM Sans"/>
                <a:sym typeface="DM Sans"/>
              </a:rPr>
              <a:t>:</a:t>
            </a:r>
          </a:p>
        </p:txBody>
      </p:sp>
      <p:sp>
        <p:nvSpPr>
          <p:cNvPr id="13" name="TextBox 13"/>
          <p:cNvSpPr txBox="1"/>
          <p:nvPr/>
        </p:nvSpPr>
        <p:spPr>
          <a:xfrm>
            <a:off x="3680325" y="8826824"/>
            <a:ext cx="9010995" cy="431476"/>
          </a:xfrm>
          <a:prstGeom prst="rect">
            <a:avLst/>
          </a:prstGeom>
        </p:spPr>
        <p:txBody>
          <a:bodyPr lIns="0" tIns="0" rIns="0" bIns="0" rtlCol="0" anchor="t">
            <a:spAutoFit/>
          </a:bodyPr>
          <a:lstStyle/>
          <a:p>
            <a:pPr algn="ctr">
              <a:lnSpc>
                <a:spcPts val="3517"/>
              </a:lnSpc>
              <a:spcBef>
                <a:spcPct val="0"/>
              </a:spcBef>
            </a:pPr>
            <a:r>
              <a:rPr lang="en-US" sz="2512" b="1" dirty="0">
                <a:solidFill>
                  <a:srgbClr val="AA1313"/>
                </a:solidFill>
                <a:latin typeface="DM Sans Bold"/>
                <a:ea typeface="DM Sans Bold"/>
                <a:cs typeface="DM Sans Bold"/>
                <a:sym typeface="DM Sans Bold"/>
              </a:rPr>
              <a:t>Note - You can delete this slide</a:t>
            </a:r>
            <a:r>
              <a:rPr lang="en-US" sz="2512" b="1" dirty="0">
                <a:solidFill>
                  <a:srgbClr val="000000"/>
                </a:solidFill>
                <a:latin typeface="DM Sans Bold"/>
                <a:ea typeface="DM Sans Bold"/>
                <a:cs typeface="DM Sans Bold"/>
                <a:sym typeface="DM Sans Bold"/>
              </a:rPr>
              <a:t> </a:t>
            </a:r>
          </a:p>
        </p:txBody>
      </p:sp>
      <p:sp>
        <p:nvSpPr>
          <p:cNvPr id="14" name="Freeform 14"/>
          <p:cNvSpPr/>
          <p:nvPr/>
        </p:nvSpPr>
        <p:spPr>
          <a:xfrm>
            <a:off x="4288580" y="2071461"/>
            <a:ext cx="9228841" cy="6523595"/>
          </a:xfrm>
          <a:custGeom>
            <a:avLst/>
            <a:gdLst/>
            <a:ahLst/>
            <a:cxnLst/>
            <a:rect l="l" t="t" r="r" b="b"/>
            <a:pathLst>
              <a:path w="9228841" h="6523595">
                <a:moveTo>
                  <a:pt x="0" y="0"/>
                </a:moveTo>
                <a:lnTo>
                  <a:pt x="9228841" y="0"/>
                </a:lnTo>
                <a:lnTo>
                  <a:pt x="9228841" y="6523596"/>
                </a:lnTo>
                <a:lnTo>
                  <a:pt x="0" y="6523596"/>
                </a:lnTo>
                <a:lnTo>
                  <a:pt x="0" y="0"/>
                </a:lnTo>
                <a:close/>
              </a:path>
            </a:pathLst>
          </a:custGeom>
          <a:blipFill>
            <a:blip r:embed="rId3">
              <a:alphaModFix amt="9999"/>
            </a:blip>
            <a:stretch>
              <a:fillRect l="-3515" t="-23221" b="-23221"/>
            </a:stretch>
          </a:blipFill>
        </p:spPr>
      </p:sp>
      <p:sp>
        <p:nvSpPr>
          <p:cNvPr id="15" name="Freeform 6">
            <a:extLst>
              <a:ext uri="{FF2B5EF4-FFF2-40B4-BE49-F238E27FC236}">
                <a16:creationId xmlns:a16="http://schemas.microsoft.com/office/drawing/2014/main" id="{CC857E0C-6112-823E-710E-DAAE24CD6773}"/>
              </a:ext>
            </a:extLst>
          </p:cNvPr>
          <p:cNvSpPr/>
          <p:nvPr/>
        </p:nvSpPr>
        <p:spPr>
          <a:xfrm>
            <a:off x="15457048" y="-279179"/>
            <a:ext cx="2603115" cy="2603115"/>
          </a:xfrm>
          <a:custGeom>
            <a:avLst/>
            <a:gdLst/>
            <a:ahLst/>
            <a:cxnLst/>
            <a:rect l="l" t="t" r="r" b="b"/>
            <a:pathLst>
              <a:path w="2603115" h="2603115">
                <a:moveTo>
                  <a:pt x="0" y="0"/>
                </a:moveTo>
                <a:lnTo>
                  <a:pt x="2603114" y="0"/>
                </a:lnTo>
                <a:lnTo>
                  <a:pt x="2603114" y="2603115"/>
                </a:lnTo>
                <a:lnTo>
                  <a:pt x="0" y="2603115"/>
                </a:lnTo>
                <a:lnTo>
                  <a:pt x="0" y="0"/>
                </a:lnTo>
                <a:close/>
              </a:path>
            </a:pathLst>
          </a:custGeom>
          <a:blipFill>
            <a:blip r:embed="rId3"/>
            <a:stretch>
              <a:fillRect/>
            </a:stretch>
          </a:blipFill>
        </p:spPr>
        <p:txBody>
          <a:bodyPr/>
          <a:lstStyle/>
          <a:p>
            <a:endParaRPr lang="en-US" dirty="0"/>
          </a:p>
        </p:txBody>
      </p:sp>
      <p:sp>
        <p:nvSpPr>
          <p:cNvPr id="16" name="Freeform 7">
            <a:extLst>
              <a:ext uri="{FF2B5EF4-FFF2-40B4-BE49-F238E27FC236}">
                <a16:creationId xmlns:a16="http://schemas.microsoft.com/office/drawing/2014/main" id="{6EECAC61-2C34-C1B8-BBCA-B56D25A1C906}"/>
              </a:ext>
            </a:extLst>
          </p:cNvPr>
          <p:cNvSpPr/>
          <p:nvPr/>
        </p:nvSpPr>
        <p:spPr>
          <a:xfrm>
            <a:off x="685800" y="552285"/>
            <a:ext cx="3094349" cy="1450639"/>
          </a:xfrm>
          <a:custGeom>
            <a:avLst/>
            <a:gdLst/>
            <a:ahLst/>
            <a:cxnLst/>
            <a:rect l="l" t="t" r="r" b="b"/>
            <a:pathLst>
              <a:path w="3094349" h="1450639">
                <a:moveTo>
                  <a:pt x="0" y="0"/>
                </a:moveTo>
                <a:lnTo>
                  <a:pt x="3094349" y="0"/>
                </a:lnTo>
                <a:lnTo>
                  <a:pt x="3094349" y="1450639"/>
                </a:lnTo>
                <a:lnTo>
                  <a:pt x="0" y="1450639"/>
                </a:lnTo>
                <a:lnTo>
                  <a:pt x="0" y="0"/>
                </a:lnTo>
                <a:close/>
              </a:path>
            </a:pathLst>
          </a:custGeom>
          <a:blipFill>
            <a:blip r:embed="rId4"/>
            <a:stretch>
              <a:fillRect/>
            </a:stretch>
          </a:blipFill>
        </p:spPr>
        <p:txBody>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TotalTime>
  <Words>620</Words>
  <Application>Microsoft Office PowerPoint</Application>
  <PresentationFormat>Custom</PresentationFormat>
  <Paragraphs>50</Paragraphs>
  <Slides>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vt:i4>
      </vt:variant>
    </vt:vector>
  </HeadingPairs>
  <TitlesOfParts>
    <vt:vector size="16" baseType="lpstr">
      <vt:lpstr>Arial</vt:lpstr>
      <vt:lpstr>Calibri</vt:lpstr>
      <vt:lpstr>Aadil</vt:lpstr>
      <vt:lpstr>DM Sans Bold</vt:lpstr>
      <vt:lpstr>Canva Sans Bold</vt:lpstr>
      <vt:lpstr>Poppins</vt:lpstr>
      <vt:lpstr>DM Sans</vt:lpstr>
      <vt:lpstr>Goudy Bold</vt:lpstr>
      <vt:lpstr>Neue Montreal 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RSOC-2026</dc:title>
  <dc:creator>Nihal Parkhi</dc:creator>
  <cp:lastModifiedBy>SANDESH THIPE</cp:lastModifiedBy>
  <cp:revision>4</cp:revision>
  <dcterms:created xsi:type="dcterms:W3CDTF">2006-08-16T00:00:00Z</dcterms:created>
  <dcterms:modified xsi:type="dcterms:W3CDTF">2026-03-13T09:44:22Z</dcterms:modified>
  <dc:identifier>DAHDqI-E1TY</dc:identifier>
</cp:coreProperties>
</file>